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4"/>
  </p:sldMasterIdLst>
  <p:notesMasterIdLst>
    <p:notesMasterId r:id="rId22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13"/>
    <p:sldId id="265" r:id="rId12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2D05780-8FD2-49C1-B717-6DCDD0A3DB8D}">
          <p14:sldIdLst>
            <p14:sldId id="2147482217"/>
            <p14:sldId id="264"/>
            <p14:sldId id="2147482218"/>
            <p14:sldId id="2147482219"/>
            <p14:sldId id="2147482220"/>
            <p14:sldId id="2147482221"/>
            <p14:sldId id="2147482224"/>
            <p14:sldId id="2147482230"/>
            <p14:sldId id="2147482223"/>
            <p14:sldId id="2147482231"/>
            <p14:sldId id="262"/>
            <p14:sldId id="256"/>
            <p14:sldId id="276"/>
            <p14:sldId id="2147482228"/>
            <p14:sldId id="2147482229"/>
            <p14:sldId id="2147482226"/>
            <p14:sldId id="2147482232"/>
          </p14:sldIdLst>
        </p14:section>
        <p14:section name="Untitled Section" id="{A482B9FE-F82E-4C0C-945D-D85BA677D15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91D428-879C-40C4-73D5-B8B6B1DC3D2D}" name="Stephanie M. Torruella" initials="ST" userId="S::storruella@transitionbio.com::c0aa0133-371b-4d6d-8fe9-ae56575c9c5e" providerId="AD"/>
  <p188:author id="{0E406029-269A-AB68-0133-00566E7CCB9A}" name="Shilpi Arora" initials="SA" userId="S::sarora@Transitionbio.com::c55c68db-a3e2-4eca-89f2-966c62e91ca2" providerId="AD"/>
  <p188:author id="{8A55A83A-56C7-0A01-DE17-92951023F0A8}" name="Will Arter" initials="WA" userId="S::warter@Transitionbio.com::dff3fd33-fb71-4f4c-abf8-30e518e27fef" providerId="AD"/>
  <p188:author id="{F0083074-BA88-A507-A9FC-64CC17793B0F}" name="Marius Rebmann" initials="MR" userId="S::mrebmann@Transitionbio.com::6a274d54-82ee-4eff-a43d-1a2fd196fa3d" providerId="AD"/>
  <p188:author id="{715AB47A-F550-355B-C1B6-68C6F1324DC1}" name="Simon Woodcock" initials="SW" userId="S::swoodcock@Transitionbio.com::3d3c77b3-3870-48fa-8e1c-4e9dffd0d5cf" providerId="AD"/>
  <p188:author id="{03779B87-26EC-4450-F385-E33DA60C242D}" name="Alex Howarth" initials="AH" userId="S::ahowarth@Transitionbio.com::0ba22c72-e6b5-477f-b455-a93073b0326d" providerId="AD"/>
  <p188:author id="{C763818E-DDE8-5DA4-B059-90B21959B5D3}" name="Sebastien Degorce" initials="SD" userId="S::sdegorce@Transitionbio.com::c6bdaff8-e30d-476f-a6e8-81eeadf2857a" providerId="AD"/>
  <p188:author id="{F53A58C1-C20C-A9DD-6E1E-B8354C013F54}" name="Marius Rebmann" initials="MR" userId="S::mrebmann@transitionbio.com::6a274d54-82ee-4eff-a43d-1a2fd196fa3d" providerId="AD"/>
  <p188:author id="{17F593C9-917F-05D7-B23C-F1A74D632436}" name="Martin Kulander" initials="MK" userId="S::mkulander@Transitionbio.com::06093cbd-78df-4d98-95d1-1ca19aea9b0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13AE"/>
    <a:srgbClr val="DB94F7"/>
    <a:srgbClr val="FFFFFF"/>
    <a:srgbClr val="595959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9F5412-4814-499E-A407-E8906597EB3B}" v="18" dt="2026-10-07T12:14:18.659"/>
    <p1510:client id="{FC60FC2A-E72A-FF0E-4563-BAD76CD4AE8A}" v="9" dt="2026-10-07T13:35:44.1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1"/>
    <p:restoredTop sz="94679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0.xml"/><Relationship Id="rId13" Type="http://schemas.openxmlformats.org/officeDocument/2006/relationships/slide" Target="slides/slide9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notesMaster" Target="notesMasters/notesMaster1.xml"/><Relationship Id="rId23" Type="http://schemas.openxmlformats.org/officeDocument/2006/relationships/tags" Target="tags/tag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anie M. Torruella" userId="c0aa0133-371b-4d6d-8fe9-ae56575c9c5e" providerId="ADAL" clId="{D4B54141-8F2F-4EE8-9ECD-8B1923541E1F}"/>
    <pc:docChg chg="addSld modSld">
      <pc:chgData name="Stephanie M. Torruella" userId="c0aa0133-371b-4d6d-8fe9-ae56575c9c5e" providerId="ADAL" clId="{D4B54141-8F2F-4EE8-9ECD-8B1923541E1F}" dt="2026-10-07T12:14:58.358" v="60" actId="20577"/>
      <pc:docMkLst>
        <pc:docMk/>
      </pc:docMkLst>
      <pc:sldChg chg="add">
        <pc:chgData name="Stephanie M. Torruella" userId="c0aa0133-371b-4d6d-8fe9-ae56575c9c5e" providerId="ADAL" clId="{D4B54141-8F2F-4EE8-9ECD-8B1923541E1F}" dt="2026-10-07T12:14:10.477" v="7"/>
        <pc:sldMkLst>
          <pc:docMk/>
          <pc:sldMk cId="2649699631" sldId="256"/>
        </pc:sldMkLst>
      </pc:sldChg>
      <pc:sldChg chg="add">
        <pc:chgData name="Stephanie M. Torruella" userId="c0aa0133-371b-4d6d-8fe9-ae56575c9c5e" providerId="ADAL" clId="{D4B54141-8F2F-4EE8-9ECD-8B1923541E1F}" dt="2026-10-07T12:14:17.056" v="14"/>
        <pc:sldMkLst>
          <pc:docMk/>
          <pc:sldMk cId="588774382" sldId="259"/>
        </pc:sldMkLst>
      </pc:sldChg>
      <pc:sldChg chg="add">
        <pc:chgData name="Stephanie M. Torruella" userId="c0aa0133-371b-4d6d-8fe9-ae56575c9c5e" providerId="ADAL" clId="{D4B54141-8F2F-4EE8-9ECD-8B1923541E1F}" dt="2026-10-07T12:14:18.128" v="16"/>
        <pc:sldMkLst>
          <pc:docMk/>
          <pc:sldMk cId="1061694454" sldId="260"/>
        </pc:sldMkLst>
      </pc:sldChg>
      <pc:sldChg chg="add">
        <pc:chgData name="Stephanie M. Torruella" userId="c0aa0133-371b-4d6d-8fe9-ae56575c9c5e" providerId="ADAL" clId="{D4B54141-8F2F-4EE8-9ECD-8B1923541E1F}" dt="2026-10-07T12:14:18.656" v="17"/>
        <pc:sldMkLst>
          <pc:docMk/>
          <pc:sldMk cId="3708365642" sldId="261"/>
        </pc:sldMkLst>
      </pc:sldChg>
      <pc:sldChg chg="add">
        <pc:chgData name="Stephanie M. Torruella" userId="c0aa0133-371b-4d6d-8fe9-ae56575c9c5e" providerId="ADAL" clId="{D4B54141-8F2F-4EE8-9ECD-8B1923541E1F}" dt="2026-10-07T12:14:09.953" v="6"/>
        <pc:sldMkLst>
          <pc:docMk/>
          <pc:sldMk cId="1074570326" sldId="262"/>
        </pc:sldMkLst>
      </pc:sldChg>
      <pc:sldChg chg="add">
        <pc:chgData name="Stephanie M. Torruella" userId="c0aa0133-371b-4d6d-8fe9-ae56575c9c5e" providerId="ADAL" clId="{D4B54141-8F2F-4EE8-9ECD-8B1923541E1F}" dt="2026-10-07T12:14:17.582" v="15"/>
        <pc:sldMkLst>
          <pc:docMk/>
          <pc:sldMk cId="4082321924" sldId="263"/>
        </pc:sldMkLst>
      </pc:sldChg>
      <pc:sldChg chg="modSp mod">
        <pc:chgData name="Stephanie M. Torruella" userId="c0aa0133-371b-4d6d-8fe9-ae56575c9c5e" providerId="ADAL" clId="{D4B54141-8F2F-4EE8-9ECD-8B1923541E1F}" dt="2026-10-07T12:14:47.194" v="41" actId="6549"/>
        <pc:sldMkLst>
          <pc:docMk/>
          <pc:sldMk cId="1572229099" sldId="264"/>
        </pc:sldMkLst>
        <pc:spChg chg="mod">
          <ac:chgData name="Stephanie M. Torruella" userId="c0aa0133-371b-4d6d-8fe9-ae56575c9c5e" providerId="ADAL" clId="{D4B54141-8F2F-4EE8-9ECD-8B1923541E1F}" dt="2026-10-07T12:14:47.194" v="41" actId="6549"/>
          <ac:spMkLst>
            <pc:docMk/>
            <pc:sldMk cId="1572229099" sldId="264"/>
            <ac:spMk id="2" creationId="{4EDBBECE-3610-7DCB-4939-2CE0902936F1}"/>
          </ac:spMkLst>
        </pc:spChg>
      </pc:sldChg>
      <pc:sldChg chg="add">
        <pc:chgData name="Stephanie M. Torruella" userId="c0aa0133-371b-4d6d-8fe9-ae56575c9c5e" providerId="ADAL" clId="{D4B54141-8F2F-4EE8-9ECD-8B1923541E1F}" dt="2026-10-07T12:14:11.005" v="8"/>
        <pc:sldMkLst>
          <pc:docMk/>
          <pc:sldMk cId="2591594260" sldId="276"/>
        </pc:sldMkLst>
      </pc:sldChg>
      <pc:sldChg chg="add">
        <pc:chgData name="Stephanie M. Torruella" userId="c0aa0133-371b-4d6d-8fe9-ae56575c9c5e" providerId="ADAL" clId="{D4B54141-8F2F-4EE8-9ECD-8B1923541E1F}" dt="2026-10-07T12:14:04.171" v="0"/>
        <pc:sldMkLst>
          <pc:docMk/>
          <pc:sldMk cId="1070254613" sldId="2147482221"/>
        </pc:sldMkLst>
      </pc:sldChg>
      <pc:sldChg chg="modSp add mod">
        <pc:chgData name="Stephanie M. Torruella" userId="c0aa0133-371b-4d6d-8fe9-ae56575c9c5e" providerId="ADAL" clId="{D4B54141-8F2F-4EE8-9ECD-8B1923541E1F}" dt="2026-10-07T12:14:58.358" v="60" actId="20577"/>
        <pc:sldMkLst>
          <pc:docMk/>
          <pc:sldMk cId="3646234047" sldId="2147482222"/>
        </pc:sldMkLst>
        <pc:spChg chg="mod">
          <ac:chgData name="Stephanie M. Torruella" userId="c0aa0133-371b-4d6d-8fe9-ae56575c9c5e" providerId="ADAL" clId="{D4B54141-8F2F-4EE8-9ECD-8B1923541E1F}" dt="2026-10-07T12:14:58.358" v="60" actId="20577"/>
          <ac:spMkLst>
            <pc:docMk/>
            <pc:sldMk cId="3646234047" sldId="2147482222"/>
            <ac:spMk id="2" creationId="{712A4549-0F78-B772-1E19-669EB8FA0AEF}"/>
          </ac:spMkLst>
        </pc:spChg>
      </pc:sldChg>
      <pc:sldChg chg="add">
        <pc:chgData name="Stephanie M. Torruella" userId="c0aa0133-371b-4d6d-8fe9-ae56575c9c5e" providerId="ADAL" clId="{D4B54141-8F2F-4EE8-9ECD-8B1923541E1F}" dt="2026-10-07T12:14:08.920" v="4"/>
        <pc:sldMkLst>
          <pc:docMk/>
          <pc:sldMk cId="1619661167" sldId="2147482223"/>
        </pc:sldMkLst>
      </pc:sldChg>
      <pc:sldChg chg="add">
        <pc:chgData name="Stephanie M. Torruella" userId="c0aa0133-371b-4d6d-8fe9-ae56575c9c5e" providerId="ADAL" clId="{D4B54141-8F2F-4EE8-9ECD-8B1923541E1F}" dt="2026-10-07T12:14:07.569" v="2"/>
        <pc:sldMkLst>
          <pc:docMk/>
          <pc:sldMk cId="3658022613" sldId="2147482224"/>
        </pc:sldMkLst>
      </pc:sldChg>
      <pc:sldChg chg="add">
        <pc:chgData name="Stephanie M. Torruella" userId="c0aa0133-371b-4d6d-8fe9-ae56575c9c5e" providerId="ADAL" clId="{D4B54141-8F2F-4EE8-9ECD-8B1923541E1F}" dt="2026-10-07T12:14:15.071" v="11"/>
        <pc:sldMkLst>
          <pc:docMk/>
          <pc:sldMk cId="2537200403" sldId="2147482226"/>
        </pc:sldMkLst>
      </pc:sldChg>
      <pc:sldChg chg="add">
        <pc:chgData name="Stephanie M. Torruella" userId="c0aa0133-371b-4d6d-8fe9-ae56575c9c5e" providerId="ADAL" clId="{D4B54141-8F2F-4EE8-9ECD-8B1923541E1F}" dt="2026-10-07T12:14:15.591" v="12"/>
        <pc:sldMkLst>
          <pc:docMk/>
          <pc:sldMk cId="1177039718" sldId="2147482227"/>
        </pc:sldMkLst>
      </pc:sldChg>
      <pc:sldChg chg="add">
        <pc:chgData name="Stephanie M. Torruella" userId="c0aa0133-371b-4d6d-8fe9-ae56575c9c5e" providerId="ADAL" clId="{D4B54141-8F2F-4EE8-9ECD-8B1923541E1F}" dt="2026-10-07T12:14:11.497" v="9"/>
        <pc:sldMkLst>
          <pc:docMk/>
          <pc:sldMk cId="3247742397" sldId="2147482228"/>
        </pc:sldMkLst>
      </pc:sldChg>
      <pc:sldChg chg="add">
        <pc:chgData name="Stephanie M. Torruella" userId="c0aa0133-371b-4d6d-8fe9-ae56575c9c5e" providerId="ADAL" clId="{D4B54141-8F2F-4EE8-9ECD-8B1923541E1F}" dt="2026-10-07T12:14:11.985" v="10"/>
        <pc:sldMkLst>
          <pc:docMk/>
          <pc:sldMk cId="2093083687" sldId="2147482229"/>
        </pc:sldMkLst>
      </pc:sldChg>
      <pc:sldChg chg="add">
        <pc:chgData name="Stephanie M. Torruella" userId="c0aa0133-371b-4d6d-8fe9-ae56575c9c5e" providerId="ADAL" clId="{D4B54141-8F2F-4EE8-9ECD-8B1923541E1F}" dt="2026-10-07T12:14:08.394" v="3"/>
        <pc:sldMkLst>
          <pc:docMk/>
          <pc:sldMk cId="2458045819" sldId="2147482230"/>
        </pc:sldMkLst>
      </pc:sldChg>
      <pc:sldChg chg="add">
        <pc:chgData name="Stephanie M. Torruella" userId="c0aa0133-371b-4d6d-8fe9-ae56575c9c5e" providerId="ADAL" clId="{D4B54141-8F2F-4EE8-9ECD-8B1923541E1F}" dt="2026-10-07T12:14:09.450" v="5"/>
        <pc:sldMkLst>
          <pc:docMk/>
          <pc:sldMk cId="1467279910" sldId="2147482231"/>
        </pc:sldMkLst>
      </pc:sldChg>
      <pc:sldChg chg="add">
        <pc:chgData name="Stephanie M. Torruella" userId="c0aa0133-371b-4d6d-8fe9-ae56575c9c5e" providerId="ADAL" clId="{D4B54141-8F2F-4EE8-9ECD-8B1923541E1F}" dt="2026-10-07T12:14:16.399" v="13"/>
        <pc:sldMkLst>
          <pc:docMk/>
          <pc:sldMk cId="2086582491" sldId="2147482232"/>
        </pc:sldMkLst>
      </pc:sldChg>
    </pc:docChg>
  </pc:docChgLst>
  <pc:docChgLst>
    <pc:chgData name="Shilpi Arora" userId="S::sarora@transitionbio.com::c55c68db-a3e2-4eca-89f2-966c62e91ca2" providerId="AD" clId="Web-{FC60FC2A-E72A-FF0E-4563-BAD76CD4AE8A}"/>
    <pc:docChg chg="addSld delSld modSld modSection">
      <pc:chgData name="Shilpi Arora" userId="S::sarora@transitionbio.com::c55c68db-a3e2-4eca-89f2-966c62e91ca2" providerId="AD" clId="Web-{FC60FC2A-E72A-FF0E-4563-BAD76CD4AE8A}" dt="2026-10-07T13:35:44.183" v="6" actId="1076"/>
      <pc:docMkLst>
        <pc:docMk/>
      </pc:docMkLst>
      <pc:sldChg chg="addSp delSp modSp add del">
        <pc:chgData name="Shilpi Arora" userId="S::sarora@transitionbio.com::c55c68db-a3e2-4eca-89f2-966c62e91ca2" providerId="AD" clId="Web-{FC60FC2A-E72A-FF0E-4563-BAD76CD4AE8A}" dt="2026-10-07T13:34:40.277" v="2"/>
        <pc:sldMkLst>
          <pc:docMk/>
          <pc:sldMk cId="1070254613" sldId="2147482221"/>
        </pc:sldMkLst>
        <pc:spChg chg="add mod">
          <ac:chgData name="Shilpi Arora" userId="S::sarora@transitionbio.com::c55c68db-a3e2-4eca-89f2-966c62e91ca2" providerId="AD" clId="Web-{FC60FC2A-E72A-FF0E-4563-BAD76CD4AE8A}" dt="2026-10-07T13:34:40.277" v="2"/>
          <ac:spMkLst>
            <pc:docMk/>
            <pc:sldMk cId="1070254613" sldId="2147482221"/>
            <ac:spMk id="3" creationId="{E9E40C4A-8616-D21F-E566-9EF82835A734}"/>
          </ac:spMkLst>
        </pc:spChg>
        <pc:spChg chg="del">
          <ac:chgData name="Shilpi Arora" userId="S::sarora@transitionbio.com::c55c68db-a3e2-4eca-89f2-966c62e91ca2" providerId="AD" clId="Web-{FC60FC2A-E72A-FF0E-4563-BAD76CD4AE8A}" dt="2026-10-07T13:34:40.277" v="2"/>
          <ac:spMkLst>
            <pc:docMk/>
            <pc:sldMk cId="1070254613" sldId="2147482221"/>
            <ac:spMk id="6" creationId="{7B369665-394E-9CAA-7C70-23232919B278}"/>
          </ac:spMkLst>
        </pc:spChg>
      </pc:sldChg>
      <pc:sldChg chg="del">
        <pc:chgData name="Shilpi Arora" userId="S::sarora@transitionbio.com::c55c68db-a3e2-4eca-89f2-966c62e91ca2" providerId="AD" clId="Web-{FC60FC2A-E72A-FF0E-4563-BAD76CD4AE8A}" dt="2026-10-07T13:34:42.402" v="3"/>
        <pc:sldMkLst>
          <pc:docMk/>
          <pc:sldMk cId="3646234047" sldId="2147482222"/>
        </pc:sldMkLst>
      </pc:sldChg>
      <pc:sldChg chg="delSp">
        <pc:chgData name="Shilpi Arora" userId="S::sarora@transitionbio.com::c55c68db-a3e2-4eca-89f2-966c62e91ca2" providerId="AD" clId="Web-{FC60FC2A-E72A-FF0E-4563-BAD76CD4AE8A}" dt="2026-10-07T13:35:19.418" v="4"/>
        <pc:sldMkLst>
          <pc:docMk/>
          <pc:sldMk cId="3658022613" sldId="2147482224"/>
        </pc:sldMkLst>
        <pc:spChg chg="del">
          <ac:chgData name="Shilpi Arora" userId="S::sarora@transitionbio.com::c55c68db-a3e2-4eca-89f2-966c62e91ca2" providerId="AD" clId="Web-{FC60FC2A-E72A-FF0E-4563-BAD76CD4AE8A}" dt="2026-10-07T13:35:19.418" v="4"/>
          <ac:spMkLst>
            <pc:docMk/>
            <pc:sldMk cId="3658022613" sldId="2147482224"/>
            <ac:spMk id="5" creationId="{4197D6B3-4129-A663-B474-4BF3819E98F3}"/>
          </ac:spMkLst>
        </pc:spChg>
      </pc:sldChg>
      <pc:sldChg chg="modSp">
        <pc:chgData name="Shilpi Arora" userId="S::sarora@transitionbio.com::c55c68db-a3e2-4eca-89f2-966c62e91ca2" providerId="AD" clId="Web-{FC60FC2A-E72A-FF0E-4563-BAD76CD4AE8A}" dt="2026-10-07T13:35:36.668" v="5" actId="1076"/>
        <pc:sldMkLst>
          <pc:docMk/>
          <pc:sldMk cId="3247742397" sldId="2147482228"/>
        </pc:sldMkLst>
        <pc:spChg chg="mod">
          <ac:chgData name="Shilpi Arora" userId="S::sarora@transitionbio.com::c55c68db-a3e2-4eca-89f2-966c62e91ca2" providerId="AD" clId="Web-{FC60FC2A-E72A-FF0E-4563-BAD76CD4AE8A}" dt="2026-10-07T13:35:36.668" v="5" actId="1076"/>
          <ac:spMkLst>
            <pc:docMk/>
            <pc:sldMk cId="3247742397" sldId="2147482228"/>
            <ac:spMk id="2" creationId="{AEFC33DC-6908-E40A-53A0-4944CC473E54}"/>
          </ac:spMkLst>
        </pc:spChg>
      </pc:sldChg>
      <pc:sldChg chg="modSp">
        <pc:chgData name="Shilpi Arora" userId="S::sarora@transitionbio.com::c55c68db-a3e2-4eca-89f2-966c62e91ca2" providerId="AD" clId="Web-{FC60FC2A-E72A-FF0E-4563-BAD76CD4AE8A}" dt="2026-10-07T13:35:44.183" v="6" actId="1076"/>
        <pc:sldMkLst>
          <pc:docMk/>
          <pc:sldMk cId="2093083687" sldId="2147482229"/>
        </pc:sldMkLst>
        <pc:spChg chg="mod">
          <ac:chgData name="Shilpi Arora" userId="S::sarora@transitionbio.com::c55c68db-a3e2-4eca-89f2-966c62e91ca2" providerId="AD" clId="Web-{FC60FC2A-E72A-FF0E-4563-BAD76CD4AE8A}" dt="2026-10-07T13:35:44.183" v="6" actId="1076"/>
          <ac:spMkLst>
            <pc:docMk/>
            <pc:sldMk cId="2093083687" sldId="2147482229"/>
            <ac:spMk id="2" creationId="{B095A630-5355-5206-27A3-B53AD584F9EA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0D7FE2-42ED-4D9E-A823-9C479D751818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06CCC5-01D3-4F8D-AF85-B1DD082023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1500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hour: about 12 minutes of slides, about 40 minutes in the Colab notebook, 5 minutes to wrap up. All data are synthetic, set in a meerkat field station.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hour, one pipeline. Chapters 2-4 define the family of functions; 5 says what 'good' means; 6-7 find the parameters; 8 asks whether it generalises.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Recreates Fig 3.3 with the book's own parameters. Joints sit at -theta0/theta1. Puzzle 3.2: slope of region 3 = region 1 + region 4 because units switch on from different sides.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Puzzle 4.1: predict the region count before running. Net 1 maps each of its three pieces onto the whole of [-1,1], so net 2's three regions are copied three times: nine regions.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Least squares is not arbitrary: it is the negative log-likelihood of a Gaussian. Same recipe gives BCE, cross-entropy, Poisson and von Mises losses, all used in Part 5 of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Momentum is an exponential moving average of gradients, weight (1-beta)beta^k (Puzzle 6.3). Adam normalises the step size per direction. Challenge 6: race to the burrow on a banana-shaped valley; Adam reaches it in 160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 pass stores every f_k and h_k. Backward pass multiplies by local derivatives. Puzzle 7.1 does the toy model by hand; Puzzle 7.2 does a deep ReLU net and is checked against torch autograd.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Using the fixed-joint network of Fig 8.4, fit in closed form, we estimate bias and variance from 300 datasets. Puzzle 8.3 checks eq 8.7: bias^2 + variance + noise matched the measured test MSE (0.174 vs 0.175).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the notebook. Run all first, then work top to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26C8AEF-E997-EC4E-B378-A66555430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74" y="365126"/>
            <a:ext cx="10899972" cy="752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B273419-FEDA-F84C-BC87-837BD9C31A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240" y="1496924"/>
            <a:ext cx="10910806" cy="44802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33B3778E-E220-F541-9FDD-8533134B3454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2808831" y="6356350"/>
            <a:ext cx="1094576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96F61E21-AD02-2947-9808-957C157512C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19799" y="6356350"/>
            <a:ext cx="3584692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C6DDC57F-1056-0B49-B1CD-711D67B603B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34046" y="6356350"/>
            <a:ext cx="436969" cy="365125"/>
          </a:xfrm>
        </p:spPr>
        <p:txBody>
          <a:bodyPr/>
          <a:lstStyle/>
          <a:p>
            <a:fld id="{F9C64585-196D-47E1-99AE-A85FB4E858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249691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3EA834-EEE0-554F-97F5-6CEA25C7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0" y="3572"/>
            <a:ext cx="12179299" cy="6850856"/>
          </a:xfrm>
          <a:prstGeom prst="rect">
            <a:avLst/>
          </a:prstGeom>
        </p:spPr>
      </p:pic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F0FFB0EF-6FEE-8D46-879F-76CC05116B6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489" b="82419"/>
          <a:stretch/>
        </p:blipFill>
        <p:spPr>
          <a:xfrm>
            <a:off x="6350" y="190118"/>
            <a:ext cx="3715986" cy="1205713"/>
          </a:xfrm>
          <a:prstGeom prst="rect">
            <a:avLst/>
          </a:prstGeom>
        </p:spPr>
      </p:pic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9268937D-4559-7A4C-B02D-68D0028D75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51213" y="5428368"/>
            <a:ext cx="6508431" cy="721196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500">
                <a:solidFill>
                  <a:srgbClr val="84BA77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FontTx/>
              <a:buNone/>
              <a:defRPr sz="1500"/>
            </a:lvl2pPr>
            <a:lvl3pPr marL="914400" indent="0">
              <a:buFontTx/>
              <a:buNone/>
              <a:defRPr sz="1500"/>
            </a:lvl3pPr>
            <a:lvl4pPr marL="1371600" indent="0">
              <a:buFontTx/>
              <a:buNone/>
              <a:defRPr sz="1500"/>
            </a:lvl4pPr>
            <a:lvl5pPr marL="1828800" indent="0">
              <a:buFontTx/>
              <a:buNone/>
              <a:defRPr sz="15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2E8A38-C68B-41D0-9681-886C6662A1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1213" y="3594227"/>
            <a:ext cx="6508431" cy="1288830"/>
          </a:xfrm>
        </p:spPr>
        <p:txBody>
          <a:bodyPr anchor="b">
            <a:noAutofit/>
          </a:bodyPr>
          <a:lstStyle>
            <a:lvl1pPr algn="l">
              <a:defRPr sz="47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910E484-CA48-D448-8CC1-0680BE90D9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51213" y="4928322"/>
            <a:ext cx="6508431" cy="500045"/>
          </a:xfrm>
        </p:spPr>
        <p:txBody>
          <a:bodyPr>
            <a:normAutofit/>
          </a:bodyPr>
          <a:lstStyle>
            <a:lvl1pPr marL="0" indent="0" algn="l">
              <a:buFontTx/>
              <a:buNone/>
              <a:defRPr sz="24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83966809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7367F-79CD-A0E8-E4DF-F3941FB6F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6A513-670A-F060-0657-EB846E987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C19C4-4812-9952-E11F-B4DEDD43B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76FDE-F0D7-45BE-B782-8462736CE48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6964-E625-A1C3-6AF6-8614F5545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7A792-2CA0-5A83-37B9-B6C2B52CA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AF03B1-9FA5-4FBC-BAB4-10E7D1D66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51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88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26C8AEF-E997-EC4E-B378-A66555430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74" y="365126"/>
            <a:ext cx="10899972" cy="752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B273419-FEDA-F84C-BC87-837BD9C31A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240" y="1496924"/>
            <a:ext cx="10910806" cy="44802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33B3778E-E220-F541-9FDD-8533134B3454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2808831" y="6356350"/>
            <a:ext cx="1094576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96F61E21-AD02-2947-9808-957C157512C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19799" y="6356350"/>
            <a:ext cx="3584692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C6DDC57F-1056-0B49-B1CD-711D67B603B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434046" y="6356350"/>
            <a:ext cx="436969" cy="365125"/>
          </a:xfrm>
        </p:spPr>
        <p:txBody>
          <a:bodyPr/>
          <a:lstStyle/>
          <a:p>
            <a:fld id="{F9C64585-196D-47E1-99AE-A85FB4E858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14138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EAB15B-6285-4204-93D0-41FF6CA60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53329" y="6356350"/>
            <a:ext cx="3584692" cy="365125"/>
          </a:xfrm>
        </p:spPr>
        <p:txBody>
          <a:bodyPr/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300648-C5D5-D04F-A6D0-69EE9E8C1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0" y="3572"/>
            <a:ext cx="12179299" cy="6850856"/>
          </a:xfrm>
          <a:prstGeom prst="rect">
            <a:avLst/>
          </a:prstGeom>
        </p:spPr>
      </p:pic>
      <p:pic>
        <p:nvPicPr>
          <p:cNvPr id="17" name="Picture 16" descr="A picture containing text&#10;&#10;Description automatically generated">
            <a:extLst>
              <a:ext uri="{FF2B5EF4-FFF2-40B4-BE49-F238E27FC236}">
                <a16:creationId xmlns:a16="http://schemas.microsoft.com/office/drawing/2014/main" id="{EC7B6595-B15D-8B42-AF3B-A71C19D044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489" b="82419"/>
          <a:stretch/>
        </p:blipFill>
        <p:spPr>
          <a:xfrm>
            <a:off x="265470" y="265551"/>
            <a:ext cx="2884941" cy="936067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38EBD6F-FCCA-A94A-B487-98AD4E4130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3329" y="3877769"/>
            <a:ext cx="7641906" cy="1268510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9398212"/>
      </p:ext>
    </p:extLst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40A16707-C5F9-330E-D641-CA12F743063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306" imgH="306" progId="TCLayout.ActiveDocument.1">
                  <p:embed/>
                </p:oleObj>
              </mc:Choice>
              <mc:Fallback>
                <p:oleObj name="think-cell Slide" r:id="rId9" imgW="306" imgH="306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0A16707-C5F9-330E-D641-CA12F743063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3A958F-E3F4-44EC-AF32-32422937C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74" y="365126"/>
            <a:ext cx="10899972" cy="752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D08C3-A8CE-43CA-9CBA-F3AAB72A7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074" y="1482865"/>
            <a:ext cx="10899972" cy="4694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052ED-F4CF-4884-8BC5-B3E1966B73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808831" y="6356350"/>
            <a:ext cx="10945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3CC2FA-AC27-44E2-8C04-97147D7A86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19799" y="6356350"/>
            <a:ext cx="35846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55E3D-A2E0-4145-83AD-1DF2FAE588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34046" y="6356350"/>
            <a:ext cx="4369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F9C64585-196D-47E1-99AE-A85FB4E8582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E1AFC4-D642-804C-B085-47308D1547C7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047C8E1-A06D-844B-970F-8B3374AECD6F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E8357AA-69F7-CB48-8BE7-839A220A12C6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B5ECC0A-20E0-F944-AEE3-1E29A247B36D}"/>
              </a:ext>
            </a:extLst>
          </p:cNvPr>
          <p:cNvSpPr txBox="1"/>
          <p:nvPr userDrawn="1"/>
        </p:nvSpPr>
        <p:spPr>
          <a:xfrm>
            <a:off x="8396746" y="6398275"/>
            <a:ext cx="30242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Confidential and Proprietary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6C2707F-EC85-2B4D-8E3F-207637F3705C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96D03E2-BA44-944D-90DB-0F634927D649}"/>
              </a:ext>
            </a:extLst>
          </p:cNvPr>
          <p:cNvCxnSpPr>
            <a:cxnSpLocks/>
          </p:cNvCxnSpPr>
          <p:nvPr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0312346-56C3-E44F-A359-DA02252FE3FC}"/>
              </a:ext>
            </a:extLst>
          </p:cNvPr>
          <p:cNvCxnSpPr>
            <a:cxnSpLocks/>
          </p:cNvCxnSpPr>
          <p:nvPr userDrawn="1"/>
        </p:nvCxnSpPr>
        <p:spPr>
          <a:xfrm>
            <a:off x="11434046" y="6483350"/>
            <a:ext cx="0" cy="12065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Graphic 24">
            <a:extLst>
              <a:ext uri="{FF2B5EF4-FFF2-40B4-BE49-F238E27FC236}">
                <a16:creationId xmlns:a16="http://schemas.microsoft.com/office/drawing/2014/main" id="{033D8D52-01E1-2A44-AAE2-4FC0F8CC3A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1280" y="6184740"/>
            <a:ext cx="1994420" cy="524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505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92" r:id="rId2"/>
    <p:sldLayoutId id="2147483793" r:id="rId3"/>
    <p:sldLayoutId id="2147483794" r:id="rId4"/>
    <p:sldLayoutId id="2147483796" r:id="rId5"/>
    <p:sldLayoutId id="2147483797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Understanding Deep Learning · ML Reading Group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Learning in the Kalahari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Chapters 1–8 in one hour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The roadmap: </a:t>
            </a:r>
            <a:r>
              <a:rPr b="0"/>
              <a:t>model → loss → fit → measure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sp>
        <p:nvSpPr>
          <p:cNvPr id="6" name="Pentagon 5"/>
          <p:cNvSpPr/>
          <p:nvPr/>
        </p:nvSpPr>
        <p:spPr>
          <a:xfrm>
            <a:off x="502920" y="1417320"/>
            <a:ext cx="1481328" cy="685800"/>
          </a:xfrm>
          <a:prstGeom prst="homePlate">
            <a:avLst/>
          </a:prstGeom>
          <a:solidFill>
            <a:srgbClr val="73B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Introduction</a:t>
            </a:r>
          </a:p>
        </p:txBody>
      </p:sp>
      <p:sp>
        <p:nvSpPr>
          <p:cNvPr id="8" name="Chevron 7"/>
          <p:cNvSpPr/>
          <p:nvPr/>
        </p:nvSpPr>
        <p:spPr>
          <a:xfrm>
            <a:off x="1901952" y="1417320"/>
            <a:ext cx="1481328" cy="685800"/>
          </a:xfrm>
          <a:prstGeom prst="chevron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1952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Supervised</a:t>
            </a:r>
          </a:p>
        </p:txBody>
      </p:sp>
      <p:sp>
        <p:nvSpPr>
          <p:cNvPr id="10" name="Chevron 9"/>
          <p:cNvSpPr/>
          <p:nvPr/>
        </p:nvSpPr>
        <p:spPr>
          <a:xfrm>
            <a:off x="3300984" y="1417320"/>
            <a:ext cx="1481328" cy="685800"/>
          </a:xfrm>
          <a:prstGeom prst="chevron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0984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Shallow nets</a:t>
            </a:r>
          </a:p>
        </p:txBody>
      </p:sp>
      <p:sp>
        <p:nvSpPr>
          <p:cNvPr id="12" name="Chevron 11"/>
          <p:cNvSpPr/>
          <p:nvPr/>
        </p:nvSpPr>
        <p:spPr>
          <a:xfrm>
            <a:off x="4700016" y="1417320"/>
            <a:ext cx="1481328" cy="685800"/>
          </a:xfrm>
          <a:prstGeom prst="chevron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Deep nets</a:t>
            </a:r>
          </a:p>
        </p:txBody>
      </p:sp>
      <p:sp>
        <p:nvSpPr>
          <p:cNvPr id="14" name="Chevron 13"/>
          <p:cNvSpPr/>
          <p:nvPr/>
        </p:nvSpPr>
        <p:spPr>
          <a:xfrm>
            <a:off x="6099048" y="1417320"/>
            <a:ext cx="1481328" cy="685800"/>
          </a:xfrm>
          <a:prstGeom prst="chevron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8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Loss functions</a:t>
            </a:r>
          </a:p>
        </p:txBody>
      </p:sp>
      <p:sp>
        <p:nvSpPr>
          <p:cNvPr id="16" name="Chevron 15"/>
          <p:cNvSpPr/>
          <p:nvPr/>
        </p:nvSpPr>
        <p:spPr>
          <a:xfrm>
            <a:off x="7498080" y="1417320"/>
            <a:ext cx="1481328" cy="685800"/>
          </a:xfrm>
          <a:prstGeom prst="chevron">
            <a:avLst/>
          </a:prstGeom>
          <a:solidFill>
            <a:srgbClr val="73A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Fitting</a:t>
            </a:r>
          </a:p>
        </p:txBody>
      </p:sp>
      <p:sp>
        <p:nvSpPr>
          <p:cNvPr id="18" name="Chevron 17"/>
          <p:cNvSpPr/>
          <p:nvPr/>
        </p:nvSpPr>
        <p:spPr>
          <a:xfrm>
            <a:off x="8897112" y="1417320"/>
            <a:ext cx="1481328" cy="685800"/>
          </a:xfrm>
          <a:prstGeom prst="chevron">
            <a:avLst/>
          </a:prstGeom>
          <a:solidFill>
            <a:srgbClr val="73A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7112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Gradients &amp; init</a:t>
            </a:r>
          </a:p>
        </p:txBody>
      </p:sp>
      <p:sp>
        <p:nvSpPr>
          <p:cNvPr id="20" name="Chevron 19"/>
          <p:cNvSpPr/>
          <p:nvPr/>
        </p:nvSpPr>
        <p:spPr>
          <a:xfrm>
            <a:off x="10296144" y="1417320"/>
            <a:ext cx="1481328" cy="685800"/>
          </a:xfrm>
          <a:prstGeom prst="chevron">
            <a:avLst/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Ch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6144" y="2148840"/>
            <a:ext cx="13258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Performance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834640"/>
            <a:ext cx="26517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36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" y="2971800"/>
            <a:ext cx="2432304" cy="310896"/>
          </a:xfrm>
          <a:prstGeom prst="roundRect">
            <a:avLst>
              <a:gd name="adj" fmla="val 25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WHAT FUNCTION?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3429000"/>
            <a:ext cx="2432304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y = f[x, ϕ]: lines, then networks that fold 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4480560"/>
            <a:ext cx="2432304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Parts 1–4 · weigh-in, burrows, dune sea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2834640"/>
            <a:ext cx="26517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008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19856" y="2971800"/>
            <a:ext cx="2432304" cy="310896"/>
          </a:xfrm>
          <a:prstGeom prst="roundRect">
            <a:avLst>
              <a:gd name="adj" fmla="val 25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WHAT IS GOOD?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9856" y="3429000"/>
            <a:ext cx="2432304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Max likelihood turns into the loss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9856" y="4480560"/>
            <a:ext cx="2432304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Part 5 · sentinels, alarm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17336" y="2834640"/>
            <a:ext cx="26517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A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27064" y="2971800"/>
            <a:ext cx="2432304" cy="310896"/>
          </a:xfrm>
          <a:prstGeom prst="roundRect">
            <a:avLst>
              <a:gd name="adj" fmla="val 25000"/>
            </a:avLst>
          </a:prstGeom>
          <a:solidFill>
            <a:srgbClr val="73A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HOW TO FIND IT?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3429000"/>
            <a:ext cx="2432304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GD, SGD, Adam; backprop; He init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7064" y="4480560"/>
            <a:ext cx="2432304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Parts 6–7 · race to the burrow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24544" y="2834640"/>
            <a:ext cx="26517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EF8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034272" y="2971800"/>
            <a:ext cx="2432304" cy="310896"/>
          </a:xfrm>
          <a:prstGeom prst="roundRect">
            <a:avLst>
              <a:gd name="adj" fmla="val 25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DOES IT GENERALISE?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4272" y="3429000"/>
            <a:ext cx="2432304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Bias, variance, double descent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4480560"/>
            <a:ext cx="2432304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Part 8 · call classifier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394960"/>
            <a:ext cx="111556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8759"/>
                </a:solidFill>
                <a:latin typeface="Calibri"/>
              </a:rPr>
              <a:t>Today: </a:t>
            </a:r>
            <a:r>
              <a:rPr sz="1600" b="0" i="0">
                <a:solidFill>
                  <a:srgbClr val="404040"/>
                </a:solidFill>
                <a:latin typeface="Calibri"/>
              </a:rPr>
              <a:t>12 min of slides · 40 min of puzzles in Colab · 5 min wrap-up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3: </a:t>
            </a:r>
            <a:r>
              <a:rPr b="0"/>
              <a:t>sums of clipped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pic>
        <p:nvPicPr>
          <p:cNvPr id="6" name="Picture 5" descr="eq_df816dc540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3767" y="1325880"/>
            <a:ext cx="8253984" cy="359664"/>
          </a:xfrm>
          <a:prstGeom prst="rect">
            <a:avLst/>
          </a:prstGeom>
        </p:spPr>
      </p:pic>
      <p:pic>
        <p:nvPicPr>
          <p:cNvPr id="7" name="Picture 6" descr="c029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007373"/>
            <a:ext cx="7223760" cy="38948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01000" y="2011680"/>
            <a:ext cx="3611880" cy="3886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38160" y="2148840"/>
            <a:ext cx="3337560" cy="310896"/>
          </a:xfrm>
          <a:prstGeom prst="roundRect">
            <a:avLst>
              <a:gd name="adj" fmla="val 25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 IT LIKE A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606040"/>
            <a:ext cx="3337560" cy="3200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Linear → clip (ReLU) → weighted sum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Joint of unit d at 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x = −θ</a:t>
            </a:r>
            <a:r>
              <a:rPr sz="1100" b="0" i="0">
                <a:solidFill>
                  <a:srgbClr val="404040"/>
                </a:solidFill>
                <a:latin typeface="Calibri"/>
              </a:rPr>
              <a:t>d0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/θ</a:t>
            </a:r>
            <a:r>
              <a:rPr sz="1100" b="0" i="0">
                <a:solidFill>
                  <a:srgbClr val="404040"/>
                </a:solidFill>
                <a:latin typeface="Calibri"/>
              </a:rPr>
              <a:t>d1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Slope in a region = Σ ϕ_d θ_d1 over the active units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D units → at most D + 1 linear regions</a:t>
            </a: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In the notebook: Puzzle 3.1 finds the joints and slopes, then the challenge digs the burrow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4: </a:t>
            </a:r>
            <a:r>
              <a:rPr b="0"/>
              <a:t>deep networks fold space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pic>
        <p:nvPicPr>
          <p:cNvPr id="6" name="Picture 5" descr="c06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407" y="1371600"/>
            <a:ext cx="10152704" cy="2743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343400"/>
            <a:ext cx="5394960" cy="1600200"/>
          </a:xfrm>
          <a:prstGeom prst="roundRect">
            <a:avLst>
              <a:gd name="adj" fmla="val 4000"/>
            </a:avLst>
          </a:prstGeom>
          <a:solidFill>
            <a:srgbClr val="F2F7FC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434840"/>
            <a:ext cx="5029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6AB"/>
                </a:solidFill>
                <a:latin typeface="Calibri"/>
              </a:rPr>
              <a:t>Composition = folding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Net 1 maps 3 different x's to each y, so net 2's function is replicated (and flipped) on every fold: 3 folds × 3 regions = 9 regions.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343400"/>
            <a:ext cx="53949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_ec8e3e97b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526280"/>
            <a:ext cx="463905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166360"/>
            <a:ext cx="50292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Calibri"/>
              </a:rPr>
              <a:t>Ωₖ is (size of next layer) × (size of this layer). One deep_forward covers every MLP in the notebook.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5: </a:t>
            </a:r>
            <a:r>
              <a:rPr b="0"/>
              <a:t>the recipe for any loss function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08760"/>
            <a:ext cx="42062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Choose a distribution Pr(y | θ) over the output domain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212848"/>
            <a:ext cx="548640" cy="54864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8"/>
            <a:ext cx="42062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Let the network predict its parameters: θ = f[x, ϕ]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962656"/>
            <a:ext cx="548640" cy="54864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08376"/>
            <a:ext cx="42062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Train by minimising the negative log-likelihood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712464"/>
            <a:ext cx="548640" cy="54864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758184"/>
            <a:ext cx="42062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Inference: the full distribution, or its maximum</a:t>
            </a:r>
          </a:p>
        </p:txBody>
      </p:sp>
      <p:pic>
        <p:nvPicPr>
          <p:cNvPr id="14" name="Picture 13" descr="eq_1ed6e42b5e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17720"/>
            <a:ext cx="4657344" cy="679704"/>
          </a:xfrm>
          <a:prstGeom prst="rect">
            <a:avLst/>
          </a:prstGeom>
        </p:spPr>
      </p:pic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760720" y="1417320"/>
          <a:ext cx="585216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60120"/>
                <a:gridCol w="1188720"/>
                <a:gridCol w="1097280"/>
                <a:gridCol w="123444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distribution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activation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loss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meerkat example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y ∈ ℝ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least squares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pup growth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y ∈ {0,1}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Bernoulli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sigmoid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binary CE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sentinel duty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y ∈ {1..K}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categorical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softmax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cross-entropy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alarm calls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y ∈ ℕ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Poisson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exp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Poisson NLL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scorpions / hour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y ∈ (−π, π]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von Mises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−κ cos(y − μ)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04040"/>
                          </a:solidFill>
                          <a:latin typeface="Calibri"/>
                        </a:rPr>
                        <a:t>burrow heading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760720" y="4572000"/>
            <a:ext cx="585216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8759"/>
                </a:solidFill>
                <a:latin typeface="Calibri"/>
              </a:rPr>
              <a:t>Same punchline every time: </a:t>
            </a:r>
            <a:r>
              <a:rPr sz="1600" b="0" i="0">
                <a:solidFill>
                  <a:srgbClr val="404040"/>
                </a:solidFill>
                <a:latin typeface="Calibri"/>
              </a:rPr>
              <a:t>with the matching link function, ∂ℓ/∂f = prediction −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6: </a:t>
            </a:r>
            <a:r>
              <a:rPr b="0"/>
              <a:t>momentum and Adam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2377440" cy="310896"/>
          </a:xfrm>
          <a:prstGeom prst="roundRect">
            <a:avLst>
              <a:gd name="adj" fmla="val 25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MOMENTUM (6.11)</a:t>
            </a:r>
          </a:p>
        </p:txBody>
      </p:sp>
      <p:pic>
        <p:nvPicPr>
          <p:cNvPr id="7" name="Picture 6" descr="eq_67e540b79a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12080" cy="3109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2322595"/>
            <a:ext cx="2377440" cy="310896"/>
          </a:xfrm>
          <a:prstGeom prst="roundRect">
            <a:avLst>
              <a:gd name="adj" fmla="val 25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ADAM (6.15–6.17)</a:t>
            </a:r>
          </a:p>
        </p:txBody>
      </p:sp>
      <p:pic>
        <p:nvPicPr>
          <p:cNvPr id="9" name="Picture 8" descr="eq_83f140f61d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34075"/>
            <a:ext cx="2776728" cy="384048"/>
          </a:xfrm>
          <a:prstGeom prst="rect">
            <a:avLst/>
          </a:prstGeom>
        </p:spPr>
      </p:pic>
      <p:pic>
        <p:nvPicPr>
          <p:cNvPr id="10" name="Picture 9" descr="eq_a62ee5ad3a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55283"/>
            <a:ext cx="2852928" cy="490727"/>
          </a:xfrm>
          <a:prstGeom prst="rect">
            <a:avLst/>
          </a:prstGeom>
        </p:spPr>
      </p:pic>
      <p:pic>
        <p:nvPicPr>
          <p:cNvPr id="11" name="Picture 10" descr="eq_a0e52410e2f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83171"/>
            <a:ext cx="2276856" cy="53035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4642123"/>
            <a:ext cx="5212080" cy="12557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EF8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15275"/>
            <a:ext cx="4937760" cy="11185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F8E00"/>
                </a:solidFill>
                <a:latin typeface="Calibri"/>
              </a:rPr>
              <a:t>Challenge 6: race to the burrow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Calibri"/>
              </a:rPr>
              <a:t>L(a, b) = (1 − a)² + 20(b − a²)². Fewest steps wins: bronze &lt; 2,000, silver &lt; 600, gold &lt; 200.</a:t>
            </a:r>
          </a:p>
        </p:txBody>
      </p:sp>
      <p:pic>
        <p:nvPicPr>
          <p:cNvPr id="14" name="Picture 13" descr="c051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2550023"/>
            <a:ext cx="5669280" cy="21237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7: </a:t>
            </a:r>
            <a:r>
              <a:rPr b="0"/>
              <a:t>backprop is chain rule + caching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sp>
        <p:nvSpPr>
          <p:cNvPr id="6" name="Oval 5"/>
          <p:cNvSpPr/>
          <p:nvPr/>
        </p:nvSpPr>
        <p:spPr>
          <a:xfrm>
            <a:off x="594360" y="1783080"/>
            <a:ext cx="777240" cy="64008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99032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97280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β₀+ω₀x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399032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892807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97479" y="2011680"/>
            <a:ext cx="466345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395728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sin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2697479" y="2331720"/>
            <a:ext cx="466345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191256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95928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94176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β₁+ω₁h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3995928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489704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294376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92624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exp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5294376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788152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92824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91072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β₂+ω₂h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592824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086600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91272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589520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cos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7891272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8385048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h₃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89720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887968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β₃+ω₃h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9189720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683496" y="1783080"/>
            <a:ext cx="777240" cy="640080"/>
          </a:xfrm>
          <a:prstGeom prst="ellipse">
            <a:avLst/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f₃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488168" y="2011680"/>
            <a:ext cx="466344" cy="0"/>
          </a:xfrm>
          <a:prstGeom prst="line">
            <a:avLst/>
          </a:prstGeom>
          <a:ln w="25400">
            <a:solidFill>
              <a:srgbClr val="136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186416" y="1371600"/>
            <a:ext cx="1143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(f−y)²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10488168" y="2331720"/>
            <a:ext cx="466344" cy="0"/>
          </a:xfrm>
          <a:prstGeom prst="line">
            <a:avLst/>
          </a:prstGeom>
          <a:ln w="25400">
            <a:solidFill>
              <a:srgbClr val="EF8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0981944" y="1783080"/>
            <a:ext cx="777240" cy="640080"/>
          </a:xfrm>
          <a:prstGeom prst="ellipse">
            <a:avLst/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2514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366AB"/>
                </a:solidFill>
                <a:latin typeface="Calibri"/>
              </a:rPr>
              <a:t>forward pass: store every fₖ, hₖ  </a:t>
            </a:r>
            <a:r>
              <a:rPr sz="1400" b="1" i="0">
                <a:solidFill>
                  <a:srgbClr val="EF8E00"/>
                </a:solidFill>
                <a:latin typeface="Calibri"/>
              </a:rPr>
              <a:t>·  backward pass: multiply by the local derivative and reuse</a:t>
            </a:r>
          </a:p>
        </p:txBody>
      </p:sp>
      <p:pic>
        <p:nvPicPr>
          <p:cNvPr id="40" name="Picture 39" descr="eq_7ccc378143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17520"/>
            <a:ext cx="6900672" cy="33528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48640" y="3703320"/>
            <a:ext cx="110642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85800" y="3840480"/>
            <a:ext cx="3657600" cy="310896"/>
          </a:xfrm>
          <a:prstGeom prst="roundRect">
            <a:avLst>
              <a:gd name="adj" fmla="val 25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VECTOR FORM FOR DEEP RELU NETS</a:t>
            </a:r>
          </a:p>
        </p:txBody>
      </p:sp>
      <p:pic>
        <p:nvPicPr>
          <p:cNvPr id="43" name="Picture 42" descr="eq_7812571bc4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343400"/>
            <a:ext cx="7089648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77240" y="5303520"/>
            <a:ext cx="1060704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95959"/>
                </a:solidFill>
                <a:latin typeface="Calibri"/>
              </a:rPr>
              <a:t>In the notebook: Puzzle 7.1 backprops the toy model by hand. These three lines are loss.backward() for an MLP (checked against autograd).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Chapter 8: </a:t>
            </a:r>
            <a:r>
              <a:rPr b="0"/>
              <a:t>noise, bias and variance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pic>
        <p:nvPicPr>
          <p:cNvPr id="6" name="Picture 5" descr="eq_a8380ecfd5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368" y="1325880"/>
            <a:ext cx="7034784" cy="457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1965960"/>
            <a:ext cx="1097280" cy="310896"/>
          </a:xfrm>
          <a:prstGeom prst="roundRect">
            <a:avLst>
              <a:gd name="adj" fmla="val 25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VARIANCE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965960"/>
            <a:ext cx="1097280" cy="310896"/>
          </a:xfrm>
          <a:prstGeom prst="roundRect">
            <a:avLst>
              <a:gd name="adj" fmla="val 25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BIAS²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9880" y="1965960"/>
            <a:ext cx="1097280" cy="310896"/>
          </a:xfrm>
          <a:prstGeom prst="roundRect">
            <a:avLst>
              <a:gd name="adj" fmla="val 25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" bIns="9144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NOISE</a:t>
            </a:r>
          </a:p>
        </p:txBody>
      </p:sp>
      <p:pic>
        <p:nvPicPr>
          <p:cNvPr id="10" name="Picture 9" descr="c040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984" y="2468880"/>
            <a:ext cx="4678591" cy="34747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92240" y="2514600"/>
            <a:ext cx="512064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4846320" cy="3200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Calibri"/>
              </a:rPr>
              <a:t>Proof idea: add and subtract μ, then f_μ. The cross terms vanish in expectation.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More data → less variance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More capacity → less bias, but more variance</a:t>
            </a:r>
          </a:p>
          <a:p>
            <a:pPr algn="l" marL="201168" indent="-182880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404040"/>
                </a:solidFill>
                <a:latin typeface="Calibri"/>
              </a:rPr>
              <a:t>Noise is a hard floor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8759"/>
                </a:solidFill>
                <a:latin typeface="Calibri"/>
              </a:rPr>
              <a:t>Simulation check: 0.0595 + 0.0245 + 0.09 = 0.174 vs measured 0.175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Hands-on: </a:t>
            </a:r>
            <a:r>
              <a:rPr b="0"/>
              <a:t>the core path (≈ 40 min)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/>
              <a:t>‹#›</a:t>
            </a:fld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64240" cy="34381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3120"/>
                <a:gridCol w="7772400"/>
                <a:gridCol w="1188720"/>
              </a:tblGrid>
              <a:tr h="4297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Core puzzles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54864" marR="54864" marT="27432" marB="27432" anchor="ctr">
                    <a:solidFill>
                      <a:srgbClr val="00875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2 · Supervised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2.1 gradient of the least squares loss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3 · Shallow nets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3.1 joints &amp; slopes · challenge: dig the burrow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8 min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4 · Deep nets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4.1 predict the folds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5 · Loss functions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5.3 BCE gradient · 5.4 stable softmax · 5.6 which way is the burrow?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9 min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6 · Fitting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6.4 momentum / Nesterov / Adam · challenge: race to the burrow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8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7 · Backprop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7.1 backprop by hand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6 min</a:t>
                      </a:r>
                    </a:p>
                  </a:txBody>
                  <a:tcPr marL="54864" marR="54864" marT="27432" marB="27432" anchor="ctr">
                    <a:solidFill>
                      <a:srgbClr val="EEF6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8 · Performance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8.1 · 8.4 quick questions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404040"/>
                          </a:solidFill>
                          <a:latin typeface="Calibri"/>
                        </a:rPr>
                        <a:t>2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038344"/>
            <a:ext cx="11064240" cy="1188720"/>
          </a:xfrm>
          <a:prstGeom prst="roundRect">
            <a:avLst>
              <a:gd name="adj" fmla="val 4000"/>
            </a:avLst>
          </a:prstGeom>
          <a:solidFill>
            <a:srgbClr val="F2F7FC"/>
          </a:solidFill>
          <a:ln w="15875">
            <a:solidFill>
              <a:srgbClr val="73B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11496"/>
            <a:ext cx="1069848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366AB"/>
                </a:solidFill>
                <a:latin typeface="Calibri"/>
              </a:rPr>
              <a:t>Open: 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TBio_UDL_Ch1-8_OneHour.ipynb in Colab → Runtime → Run all, then work top to bottom.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F8E00"/>
                </a:solidFill>
                <a:latin typeface="Calibri"/>
              </a:rPr>
              <a:t>Short on time? 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Skip the two challenges first. Stuck? Run the solution cell so later parts work.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8759"/>
                </a:solidFill>
                <a:latin typeface="Calibri"/>
              </a:rPr>
              <a:t>Want more? </a:t>
            </a:r>
            <a:r>
              <a:rPr sz="1500" b="0" i="0">
                <a:solidFill>
                  <a:srgbClr val="404040"/>
                </a:solidFill>
                <a:latin typeface="Calibri"/>
              </a:rPr>
              <a:t>The repo's extended/ folder has the full version: 35 puzzles and a capstone.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Next chapter: 9 · Regularisation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Deep Learning in the Kalahari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ransition Bio Final">
  <a:themeElements>
    <a:clrScheme name="Custom 4 2">
      <a:dk1>
        <a:srgbClr val="000000"/>
      </a:dk1>
      <a:lt1>
        <a:srgbClr val="FFFFFF"/>
      </a:lt1>
      <a:dk2>
        <a:srgbClr val="DCDDDC"/>
      </a:dk2>
      <a:lt2>
        <a:srgbClr val="DBEFF9"/>
      </a:lt2>
      <a:accent1>
        <a:srgbClr val="73AE63"/>
      </a:accent1>
      <a:accent2>
        <a:srgbClr val="008759"/>
      </a:accent2>
      <a:accent3>
        <a:srgbClr val="73B0E6"/>
      </a:accent3>
      <a:accent4>
        <a:srgbClr val="1366AB"/>
      </a:accent4>
      <a:accent5>
        <a:srgbClr val="8F64B7"/>
      </a:accent5>
      <a:accent6>
        <a:srgbClr val="CF1D10"/>
      </a:accent6>
      <a:hlink>
        <a:srgbClr val="EF8E00"/>
      </a:hlink>
      <a:folHlink>
        <a:srgbClr val="85DFD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ransition Bio 2022 PPT Template.pptx" id="{CCC3EB2F-16AC-4271-8F0E-1D4DB3A5C5F6}" vid="{0752CD2F-FFCE-4887-B6D3-0A4ABB9B80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86CADD27F57B48A4F7159ECF4052A6" ma:contentTypeVersion="18" ma:contentTypeDescription="Create a new document." ma:contentTypeScope="" ma:versionID="ac0e18359a73571abdd012bcb2e1eb7f">
  <xsd:schema xmlns:xsd="http://www.w3.org/2001/XMLSchema" xmlns:xs="http://www.w3.org/2001/XMLSchema" xmlns:p="http://schemas.microsoft.com/office/2006/metadata/properties" xmlns:ns2="e54c732e-f7a3-459d-9617-7ca0cf58c35a" xmlns:ns3="174f4fd0-24e5-4b60-bf16-897895e1a6d9" targetNamespace="http://schemas.microsoft.com/office/2006/metadata/properties" ma:root="true" ma:fieldsID="e07df394c60355754d8d4dc04cc1767e" ns2:_="" ns3:_="">
    <xsd:import namespace="e54c732e-f7a3-459d-9617-7ca0cf58c35a"/>
    <xsd:import namespace="174f4fd0-24e5-4b60-bf16-897895e1a6d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4c732e-f7a3-459d-9617-7ca0cf58c35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c0d9d240-31b3-4007-9ac7-d12e8356bd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4f4fd0-24e5-4b60-bf16-897895e1a6d9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38720ac-8f35-4def-88b5-8f8ca6cc4264}" ma:internalName="TaxCatchAll" ma:showField="CatchAllData" ma:web="174f4fd0-24e5-4b60-bf16-897895e1a6d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74f4fd0-24e5-4b60-bf16-897895e1a6d9" xsi:nil="true"/>
    <lcf76f155ced4ddcb4097134ff3c332f xmlns="e54c732e-f7a3-459d-9617-7ca0cf58c35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AF590BB-6809-4180-BDD0-20C3795C87F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61ED3BF-1010-4219-9A09-F8A46E204642}">
  <ds:schemaRefs>
    <ds:schemaRef ds:uri="174f4fd0-24e5-4b60-bf16-897895e1a6d9"/>
    <ds:schemaRef ds:uri="e54c732e-f7a3-459d-9617-7ca0cf58c35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BA800C5-C8D1-4912-A5D3-6C9175CD19EE}">
  <ds:schemaRefs>
    <ds:schemaRef ds:uri="174f4fd0-24e5-4b60-bf16-897895e1a6d9"/>
    <ds:schemaRef ds:uri="e54c732e-f7a3-459d-9617-7ca0cf58c35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</TotalTime>
  <Words>1132</Words>
  <Application>Microsoft Office PowerPoint</Application>
  <PresentationFormat>Widescreen</PresentationFormat>
  <Paragraphs>249</Paragraphs>
  <Slides>17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Aptos</vt:lpstr>
      <vt:lpstr>Arial</vt:lpstr>
      <vt:lpstr>Avenir Book</vt:lpstr>
      <vt:lpstr>Calibri</vt:lpstr>
      <vt:lpstr>MS Shell Dlg 2</vt:lpstr>
      <vt:lpstr>Symbol</vt:lpstr>
      <vt:lpstr>Wingdings</vt:lpstr>
      <vt:lpstr>Transition Bio Final</vt:lpstr>
      <vt:lpstr>think-cell Slide</vt:lpstr>
      <vt:lpstr>Company Town Hall </vt:lpstr>
      <vt:lpstr>Meeting Agenda</vt:lpstr>
      <vt:lpstr>Company Overview</vt:lpstr>
      <vt:lpstr>Panoma Transaction Framework</vt:lpstr>
      <vt:lpstr>Transition Bio &amp; Directional Thoughts</vt:lpstr>
      <vt:lpstr>Town Hall  Science Discussion</vt:lpstr>
      <vt:lpstr>Conferences, presentations and publications</vt:lpstr>
      <vt:lpstr>TETHER validation with ENL: article in preparation</vt:lpstr>
      <vt:lpstr>TransitionBio: Drug discovery for ALL targets</vt:lpstr>
      <vt:lpstr>EWS-FLI1</vt:lpstr>
      <vt:lpstr>EWS::FLI1 – program underway: exploring routes to hit matter </vt:lpstr>
      <vt:lpstr>EWS::FLI1 condensation is (GGAA)n DNA-dependent</vt:lpstr>
      <vt:lpstr>Full 50k library screen underway: EWS-FLI1 + (GGAA)18</vt:lpstr>
      <vt:lpstr>Native-like EWS-FLI1 protein enables structural studies</vt:lpstr>
      <vt:lpstr>Identifying chemical tools with GCI to probe EWS-FLI1</vt:lpstr>
      <vt:lpstr>Six-month timeline: Milestones and payments</vt:lpstr>
      <vt:lpstr>Company Town Hall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Kulander</dc:creator>
  <cp:lastModifiedBy>Stephanie M. Torruella</cp:lastModifiedBy>
  <cp:revision>15</cp:revision>
  <dcterms:created xsi:type="dcterms:W3CDTF">2024-09-13T12:14:52Z</dcterms:created>
  <dcterms:modified xsi:type="dcterms:W3CDTF">2026-10-07T14:35:51Z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0x0101004286CADD27F57B48A4F7159ECF4052A6</vt:lpwstr>
  </property>
  <property fmtid="{D5CDD505-2E9C-101B-9397-08002B2CF9AE}" pid="3" name="MediaServiceImageTags">
    <vt:lpwstr/>
  </property>
</Properties>
</file>