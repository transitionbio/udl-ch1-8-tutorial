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One hour, eight chapters, one meerkat mob. The slides set up each puzzle; you solve it in the notebook; then we reveal the answer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scene: the field station has data and no deep-learning person. Explain the rhythm: problem slide, try it in Colab, solution slide. Everything is synthetic so the notebook can check answers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book in four questions. Chapters 1–4: what function? 5: what counts as good? 6–7: how do we find it? 8: does it work on new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families. Supervised is most of what we do at TBio (sequence in, property out). Unsupervised and generative: learning structure, designing new sequences. RL: actions, delayed rewards, credit assignment. Ethics closes chapter 1: what we train on shapes what the model believes.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Linear regression as the template for everything: a model family, a loss, and a search for the best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 with the pups, then frame it: two knobs, one loss, and we need the downhill direction. 3 minutes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rubber-band picture, then show the two derivatives. The path on the right is gradient descent using exactly this gradient.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Fig 3.3 recreated: three pre-activations, clipped, weighted, summed. Ten parameters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Hinges, ten numbers, and two questions: where are the bends, and how steep is each piece?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Receptor analogy first, then the two formulas. Answer: joints at 0.50, 1.00 and 1.57.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Challenge, about 5 minutes. Hint if stuck: one hinge per bend.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burrow left to right; the hinge weights are the slope changes, not the slopes.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shows regions per parameter: deeper networks get many more regions for the same parameter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 before running. Take a show of hands: 6? 9? something else?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Paper-folding picture. The shaded bands on the right are the 9 regions.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idea in chapter 5: choose a distribution that matches what you measure, have the network predict its parameters, and minimise the negative log-likelihood.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selfish-sentinel story, then show where the numerical problem comes from. Hint: np.logaddexp(0, z) = log(1 + e^z), computed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Surprise is the learning signal. Plots: left, the loss; right, its gradient, bounded between −1 and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Alarm-call story, then the overflow problem. The plot shows the decoder's three predator regions and its training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Background-subtraction analogy. The bar charts show the shifted scores and the final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np.mean gives before showing it: about 8°, due 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Arrow picture. The green arrow is the circular mean, about −180°: west.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is Fig 6.5: full-batch gradient descent gets stuck in local minima of the Gabor model; SGD's noise lets it escape.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Fog and rolling-ball picture, then the three optimisers to implement from the equations. About 8 minutes including the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Heavy ball, look-ahead, per-knob step sizes. The plot shows the paths and losses on a narrow valley.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Challenge: let people tune for a few minutes. Ask who got the fewest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Steep walls, flat floor. Adam adapts its step per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pass: compute and cache. Backward pass #1: gradients with respect to the intermediate values. Backward pass #2: gradients with respect to the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Whisper-chain story; the diagram shows the forward pass and the backward links to fill in. 6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red labels right to left: each is one local derivative.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Recreates the idea of Fig 7.7: 50 layers of 100 units. Too small fades, too big explodes, He stays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measures bias² and variance exactly by refitting on many synthetic datasets (Fig 8.9). Best capacity balances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error vs loss first, then vote 1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Callback to 5.3: the left plot shows how expensive being confidently wrong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U-shape intuition, then show the curve. Vote 1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wiggly way to fit vs many ways and choosing the smoothest.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discussion for the last 5 minutes. Pick one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3.png"/><Relationship Id="rId8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27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6.png"/><Relationship Id="rId6" Type="http://schemas.openxmlformats.org/officeDocument/2006/relationships/image" Target="../media/image21.png"/><Relationship Id="rId7" Type="http://schemas.openxmlformats.org/officeDocument/2006/relationships/image" Target="../media/image37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0.png"/><Relationship Id="rId4" Type="http://schemas.openxmlformats.org/officeDocument/2006/relationships/image" Target="../media/image29.png"/><Relationship Id="rId5" Type="http://schemas.openxmlformats.org/officeDocument/2006/relationships/image" Target="../media/image10.png"/><Relationship Id="rId6" Type="http://schemas.openxmlformats.org/officeDocument/2006/relationships/image" Target="../media/image21.png"/><Relationship Id="rId7" Type="http://schemas.openxmlformats.org/officeDocument/2006/relationships/image" Target="../media/image41.png"/><Relationship Id="rId8" Type="http://schemas.openxmlformats.org/officeDocument/2006/relationships/image" Target="../media/image6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1.png"/><Relationship Id="rId6" Type="http://schemas.openxmlformats.org/officeDocument/2006/relationships/image" Target="../media/image21.png"/><Relationship Id="rId7" Type="http://schemas.openxmlformats.org/officeDocument/2006/relationships/image" Target="../media/image49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52.pn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image" Target="../media/image53.png"/><Relationship Id="rId10" Type="http://schemas.openxmlformats.org/officeDocument/2006/relationships/image" Target="../media/image14.png"/><Relationship Id="rId11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54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3.png"/><Relationship Id="rId6" Type="http://schemas.openxmlformats.org/officeDocument/2006/relationships/image" Target="../media/image21.png"/><Relationship Id="rId7" Type="http://schemas.openxmlformats.org/officeDocument/2006/relationships/image" Target="../media/image57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4.png"/><Relationship Id="rId6" Type="http://schemas.openxmlformats.org/officeDocument/2006/relationships/image" Target="../media/image21.png"/><Relationship Id="rId7" Type="http://schemas.openxmlformats.org/officeDocument/2006/relationships/image" Target="../media/image60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5.png"/><Relationship Id="rId6" Type="http://schemas.openxmlformats.org/officeDocument/2006/relationships/image" Target="../media/image21.png"/><Relationship Id="rId7" Type="http://schemas.openxmlformats.org/officeDocument/2006/relationships/image" Target="../media/image65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0.png"/><Relationship Id="rId4" Type="http://schemas.openxmlformats.org/officeDocument/2006/relationships/image" Target="../media/image29.png"/><Relationship Id="rId5" Type="http://schemas.openxmlformats.org/officeDocument/2006/relationships/image" Target="../media/image68.png"/><Relationship Id="rId6" Type="http://schemas.openxmlformats.org/officeDocument/2006/relationships/image" Target="../media/image21.png"/><Relationship Id="rId7" Type="http://schemas.openxmlformats.org/officeDocument/2006/relationships/image" Target="../media/image69.png"/><Relationship Id="rId8" Type="http://schemas.openxmlformats.org/officeDocument/2006/relationships/image" Target="../media/image6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0.png"/><Relationship Id="rId8" Type="http://schemas.openxmlformats.org/officeDocument/2006/relationships/image" Target="../media/image33.png"/><Relationship Id="rId9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Relationship Id="rId4" Type="http://schemas.openxmlformats.org/officeDocument/2006/relationships/image" Target="../media/image8.png"/><Relationship Id="rId5" Type="http://schemas.openxmlformats.org/officeDocument/2006/relationships/image" Target="../media/image71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72.png"/><Relationship Id="rId9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Relationship Id="rId7" Type="http://schemas.openxmlformats.org/officeDocument/2006/relationships/image" Target="../media/image73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4.png"/><Relationship Id="rId8" Type="http://schemas.openxmlformats.org/officeDocument/2006/relationships/image" Target="../media/image33.png"/><Relationship Id="rId9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5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Relationship Id="rId7" Type="http://schemas.openxmlformats.org/officeDocument/2006/relationships/image" Target="../media/image80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33.png"/><Relationship Id="rId10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83.png"/><Relationship Id="rId6" Type="http://schemas.openxmlformats.org/officeDocument/2006/relationships/image" Target="../media/image21.png"/><Relationship Id="rId7" Type="http://schemas.openxmlformats.org/officeDocument/2006/relationships/image" Target="../media/image84.png"/><Relationship Id="rId8" Type="http://schemas.openxmlformats.org/officeDocument/2006/relationships/image" Target="../media/image6.png"/><Relationship Id="rId9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84.png"/><Relationship Id="rId8" Type="http://schemas.openxmlformats.org/officeDocument/2006/relationships/image" Target="../media/image33.png"/><Relationship Id="rId9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5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86.png"/><Relationship Id="rId8" Type="http://schemas.openxmlformats.org/officeDocument/2006/relationships/image" Target="../media/image18.png"/><Relationship Id="rId9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1980888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417320"/>
            <a:ext cx="7589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5000" b="1" i="0">
                <a:solidFill>
                  <a:srgbClr val="2B2B2B"/>
                </a:solidFill>
                <a:latin typeface="Arial"/>
              </a:rPr>
              <a:t>Deep Learning in the Kalahari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4A4A4A"/>
                </a:solidFill>
                <a:latin typeface="Arial"/>
              </a:rPr>
              <a:t>Understanding Deep Learning</a:t>
            </a:r>
            <a:r>
              <a:rPr sz="2100" b="0" i="0">
                <a:solidFill>
                  <a:srgbClr val="4A4A4A"/>
                </a:solidFill>
                <a:latin typeface="Arial"/>
              </a:rPr>
              <a:t>, chapters 1–8, in one hands-on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8759"/>
                </a:solidFill>
                <a:latin typeface="Arial"/>
              </a:rPr>
              <a:t>Transition Bio · ML Reading Group</a:t>
            </a:r>
          </a:p>
        </p:txBody>
      </p:sp>
      <p:pic>
        <p:nvPicPr>
          <p:cNvPr id="7" name="Picture 6" descr="meerkat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3169919" cy="3566160"/>
          </a:xfrm>
          <a:prstGeom prst="rect">
            <a:avLst/>
          </a:prstGeom>
        </p:spPr>
      </p:pic>
      <p:pic>
        <p:nvPicPr>
          <p:cNvPr id="8" name="Picture 7" descr="1f4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572000"/>
            <a:ext cx="502920" cy="502920"/>
          </a:xfrm>
          <a:prstGeom prst="rect">
            <a:avLst/>
          </a:prstGeom>
        </p:spPr>
      </p:pic>
      <p:pic>
        <p:nvPicPr>
          <p:cNvPr id="9" name="Picture 8" descr="1f4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8463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494115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4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94547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WELCOME TO THE FIELD STATION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You've just joined a meerkat field station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B2B2B"/>
                </a:solidFill>
                <a:latin typeface="Arial"/>
              </a:rPr>
              <a:t>The station studies a wild mob of about thirty meerkats. It has plenty of data and </a:t>
            </a:r>
            <a:r>
              <a:rPr sz="1700" b="1" i="0">
                <a:solidFill>
                  <a:srgbClr val="2B2B2B"/>
                </a:solidFill>
                <a:latin typeface="Arial"/>
              </a:rPr>
              <a:t>no deep-learning expert</a:t>
            </a:r>
            <a:r>
              <a:rPr sz="1700" b="0" i="0">
                <a:solidFill>
                  <a:srgbClr val="2B2B2B"/>
                </a:solidFill>
                <a:latin typeface="Arial"/>
              </a:rPr>
              <a:t>. Guess who that is now.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B2B2B"/>
                </a:solidFill>
                <a:latin typeface="Arial"/>
              </a:rPr>
              <a:t>Every chapter of the book becomes a problem from the field: weighing pups, decoding alarm calls, finding the way home.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246120"/>
            <a:ext cx="777240" cy="777240"/>
          </a:xfrm>
          <a:prstGeom prst="ellipse">
            <a:avLst/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5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" y="3386023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326440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B2B"/>
                </a:solidFill>
                <a:latin typeface="Arial"/>
              </a:rPr>
              <a:t>1 · The problem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A problem slide sets up the field problem in plain words, with the task you'll code.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33672"/>
            <a:ext cx="777240" cy="777240"/>
          </a:xfrm>
          <a:prstGeom prst="ellipse">
            <a:avLst/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f4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" y="4373575"/>
            <a:ext cx="497433" cy="4974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425195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B2B"/>
                </a:solidFill>
                <a:latin typeface="Arial"/>
              </a:rPr>
              <a:t>2 · Your turn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Open the notebook in Colab, fill in the TODO, and run the check cell.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221224"/>
            <a:ext cx="777240" cy="777240"/>
          </a:xfrm>
          <a:prstGeom prst="ellipse">
            <a:avLst/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f5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" y="5361127"/>
            <a:ext cx="497433" cy="497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08760" y="5239512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B2B2B"/>
                </a:solidFill>
                <a:latin typeface="Arial"/>
              </a:rPr>
              <a:t>3 · The solution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A solution slide explains the answer: first in plain words, then the maths.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691640"/>
            <a:ext cx="4434840" cy="4206240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erkat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1828800"/>
            <a:ext cx="2103120" cy="23660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72600" y="2057400"/>
            <a:ext cx="21031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Colab: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Runtime → Run all, then work top to bottom.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Stuck? Run the solution cell so later parts still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75488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All data are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synthetic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generated in the notebook, so every answer can be checked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</a:t>
            </a:r>
          </a:p>
        </p:txBody>
      </p:sp>
      <p:pic>
        <p:nvPicPr>
          <p:cNvPr id="21" name="Picture 20" descr="tb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1904999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135635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THE ROADMAP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Four questions, eight chapters, twelve puzzles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8759"/>
                </a:solidFill>
                <a:latin typeface="Arial"/>
              </a:rPr>
              <a:t>Ch 1–4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What function?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Models: lines, clipped lines, folded space</a:t>
            </a:r>
          </a:p>
        </p:txBody>
      </p:sp>
      <p:pic>
        <p:nvPicPr>
          <p:cNvPr id="11" name="Picture 10" descr="1f3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86200"/>
            <a:ext cx="640080" cy="640080"/>
          </a:xfrm>
          <a:prstGeom prst="rect">
            <a:avLst/>
          </a:prstGeom>
        </p:spPr>
      </p:pic>
      <p:pic>
        <p:nvPicPr>
          <p:cNvPr id="12" name="Picture 11" descr="26c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3886200"/>
            <a:ext cx="640080" cy="640080"/>
          </a:xfrm>
          <a:prstGeom prst="rect">
            <a:avLst/>
          </a:prstGeom>
        </p:spPr>
      </p:pic>
      <p:pic>
        <p:nvPicPr>
          <p:cNvPr id="13" name="Picture 12" descr="1f3d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1720" y="388620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8759"/>
                </a:solidFill>
                <a:latin typeface="Arial"/>
              </a:rPr>
              <a:t>2.1 · 3.1 · C3 · 4.1</a:t>
            </a:r>
          </a:p>
        </p:txBody>
      </p:sp>
      <p:sp>
        <p:nvSpPr>
          <p:cNvPr id="16" name="Chevron 15"/>
          <p:cNvSpPr/>
          <p:nvPr/>
        </p:nvSpPr>
        <p:spPr>
          <a:xfrm>
            <a:off x="3186684" y="3840480"/>
            <a:ext cx="155448" cy="365760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78708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7308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366AB"/>
                </a:solidFill>
                <a:latin typeface="Arial"/>
              </a:rPr>
              <a:t>Ch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7308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What is good?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7308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Loss functions from probability</a:t>
            </a:r>
          </a:p>
        </p:txBody>
      </p:sp>
      <p:pic>
        <p:nvPicPr>
          <p:cNvPr id="21" name="Picture 20" descr="1f52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7308" y="3886200"/>
            <a:ext cx="640080" cy="640080"/>
          </a:xfrm>
          <a:prstGeom prst="rect">
            <a:avLst/>
          </a:prstGeom>
        </p:spPr>
      </p:pic>
      <p:pic>
        <p:nvPicPr>
          <p:cNvPr id="22" name="Picture 21" descr="1f98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4548" y="3886200"/>
            <a:ext cx="640080" cy="640080"/>
          </a:xfrm>
          <a:prstGeom prst="rect">
            <a:avLst/>
          </a:prstGeom>
        </p:spPr>
      </p:pic>
      <p:pic>
        <p:nvPicPr>
          <p:cNvPr id="23" name="Picture 22" descr="1f9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1788" y="3886200"/>
            <a:ext cx="640080" cy="640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07308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7308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366AB"/>
                </a:solidFill>
                <a:latin typeface="Arial"/>
              </a:rPr>
              <a:t>5.3 · 5.4 · 5.6</a:t>
            </a:r>
          </a:p>
        </p:txBody>
      </p:sp>
      <p:sp>
        <p:nvSpPr>
          <p:cNvPr id="26" name="Chevron 25"/>
          <p:cNvSpPr/>
          <p:nvPr/>
        </p:nvSpPr>
        <p:spPr>
          <a:xfrm>
            <a:off x="6016752" y="3840480"/>
            <a:ext cx="155448" cy="365760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08776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EF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F64B7"/>
                </a:solidFill>
                <a:latin typeface="Arial"/>
              </a:rPr>
              <a:t>Ch 6–7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How to find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Optimisers, backprop, initialisation</a:t>
            </a:r>
          </a:p>
        </p:txBody>
      </p:sp>
      <p:pic>
        <p:nvPicPr>
          <p:cNvPr id="31" name="Picture 30" descr="1f3c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7376" y="3886200"/>
            <a:ext cx="640080" cy="640080"/>
          </a:xfrm>
          <a:prstGeom prst="rect">
            <a:avLst/>
          </a:prstGeom>
        </p:spPr>
      </p:pic>
      <p:pic>
        <p:nvPicPr>
          <p:cNvPr id="32" name="Picture 31" descr="1f4e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14616" y="3886200"/>
            <a:ext cx="640080" cy="6400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37376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F64B7"/>
                </a:solidFill>
                <a:latin typeface="Arial"/>
              </a:rPr>
              <a:t>6.4 · C6 · 7.1</a:t>
            </a:r>
          </a:p>
        </p:txBody>
      </p:sp>
      <p:sp>
        <p:nvSpPr>
          <p:cNvPr id="35" name="Chevron 34"/>
          <p:cNvSpPr/>
          <p:nvPr/>
        </p:nvSpPr>
        <p:spPr>
          <a:xfrm>
            <a:off x="8846819" y="3840480"/>
            <a:ext cx="155448" cy="365760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8844" y="1783080"/>
            <a:ext cx="2601468" cy="434340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67444" y="1965960"/>
            <a:ext cx="21442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F8E00"/>
                </a:solidFill>
                <a:latin typeface="Arial"/>
              </a:rPr>
              <a:t>Ch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7444" y="2286000"/>
            <a:ext cx="21442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Arial"/>
              </a:rPr>
              <a:t>Does it generalise?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7444" y="301752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04040"/>
                </a:solidFill>
                <a:latin typeface="Arial"/>
              </a:rPr>
              <a:t>Bias, variance, double descent</a:t>
            </a:r>
          </a:p>
        </p:txBody>
      </p:sp>
      <p:pic>
        <p:nvPicPr>
          <p:cNvPr id="40" name="Picture 39" descr="1f39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67444" y="3886200"/>
            <a:ext cx="640080" cy="6400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267444" y="4846320"/>
            <a:ext cx="21442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6B6B6B"/>
                </a:solidFill>
                <a:latin typeface="Arial"/>
              </a:rPr>
              <a:t>Puzzles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7444" y="5120640"/>
            <a:ext cx="21442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F8E00"/>
                </a:solidFill>
                <a:latin typeface="Arial"/>
              </a:rPr>
              <a:t>8.1 · 8.4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</a:t>
            </a:r>
          </a:p>
        </p:txBody>
      </p:sp>
      <p:pic>
        <p:nvPicPr>
          <p:cNvPr id="44" name="Picture 43" descr="tb_log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025140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4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765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1 · INTRODUCTION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Three ways a machine can learn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3514344" cy="3931920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874519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5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" y="2014423"/>
            <a:ext cx="497433" cy="4974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2057400"/>
            <a:ext cx="2234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8759"/>
                </a:solidFill>
                <a:latin typeface="Arial"/>
              </a:rPr>
              <a:t>Supervised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3057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404040"/>
                </a:solidFill>
                <a:latin typeface="Arial"/>
              </a:rPr>
              <a:t>Learn x → y from labelled pairs.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05714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Regression: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 number (pup mass)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Classification: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 category (which predator)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At TBio: sequence → does it form condensates?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7304" y="1691640"/>
            <a:ext cx="3514344" cy="393192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5904" y="1874519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9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807" y="2014423"/>
            <a:ext cx="497433" cy="49743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0304" y="2057400"/>
            <a:ext cx="2234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366AB"/>
                </a:solidFill>
                <a:latin typeface="Arial"/>
              </a:rPr>
              <a:t>Unsupervised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5904" y="2788920"/>
            <a:ext cx="3057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404040"/>
                </a:solidFill>
                <a:latin typeface="Arial"/>
              </a:rPr>
              <a:t>Learn from x alone, no labels.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5904" y="3246120"/>
            <a:ext cx="305714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Generative models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make new examples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Latent variables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z: simple hidden causes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At TBio: propose new sequences that look natural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5968" y="1691640"/>
            <a:ext cx="3514344" cy="393192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4568" y="1874519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f3a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471" y="2014423"/>
            <a:ext cx="497433" cy="49743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68968" y="2057400"/>
            <a:ext cx="2234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F8E00"/>
                </a:solidFill>
                <a:latin typeface="Arial"/>
              </a:rPr>
              <a:t>Reinforcement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4568" y="2788920"/>
            <a:ext cx="3057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404040"/>
                </a:solidFill>
                <a:latin typeface="Arial"/>
              </a:rPr>
              <a:t>Act, change the state, get rewards.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4568" y="3246120"/>
            <a:ext cx="3057144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Rewards arrive late: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credit assignment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Which past action earned the reward?</a:t>
            </a:r>
          </a:p>
          <a:p>
            <a:pPr algn="l" marL="201168" indent="-182880">
              <a:spcAft>
                <a:spcPts val="400"/>
              </a:spcAft>
              <a:buClr>
                <a:srgbClr val="008759"/>
              </a:buClr>
              <a:buFont typeface="Arial"/>
              <a:buChar char="•"/>
            </a:pPr>
            <a:r>
              <a:rPr sz="1450" b="0" i="0">
                <a:solidFill>
                  <a:srgbClr val="2B2B2B"/>
                </a:solidFill>
                <a:latin typeface="Arial"/>
              </a:rPr>
              <a:t>Like: which of 20 protocol steps made it work?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f4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824728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Ethics (§1.3):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bias, explainability and environmental cost matter here too. What data we train on shapes what the model believes.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4</a:t>
            </a:r>
          </a:p>
        </p:txBody>
      </p:sp>
      <p:pic>
        <p:nvPicPr>
          <p:cNvPr id="29" name="Picture 28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735853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18721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2 · SUPERVISED LEARNING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The Great Pup Weigh-in: fitting a line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386012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73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Every morning the station weighs the pups (a boiled egg keeps them on the scale). Predict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mass gained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from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hours foraging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yesterday.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The model is 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family of lines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Two knobs, intercept and slope, pick one line.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The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loss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adds up the squared misses.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Training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turns the knobs until the loss is smallest.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06252"/>
            <a:ext cx="5745175" cy="1962912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7084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489132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993d71e6b2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818316"/>
            <a:ext cx="2868168" cy="338328"/>
          </a:xfrm>
          <a:prstGeom prst="rect">
            <a:avLst/>
          </a:prstGeom>
        </p:spPr>
      </p:pic>
      <p:pic>
        <p:nvPicPr>
          <p:cNvPr id="15" name="Picture 14" descr="860eb063ea5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5229796"/>
            <a:ext cx="3569208" cy="829056"/>
          </a:xfrm>
          <a:prstGeom prst="rect">
            <a:avLst/>
          </a:prstGeom>
        </p:spPr>
      </p:pic>
      <p:pic>
        <p:nvPicPr>
          <p:cNvPr id="16" name="Picture 15" descr="p21_weigh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13855" y="1691640"/>
            <a:ext cx="5029200" cy="3793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5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2.1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The Great Pup Weigh-in: which way is downhill?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Every morning the station coaxes the pups onto a kitchen scale with a boiled egg. Volunteers also log how many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hours each pup spent foraging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day before.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manager wants a simple rule: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forage x hours, gain y grams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Pups that gain less than the rule predicts may be ill, so it doubles as a health check.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We draw a straight line through the 20 pups. Our first guess misses most of them (red lines).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20 pups (hours x, grams y) and a line y = φ₀ + φ₁x with two knobs: intercept φ₀ and slope φ₁.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knob settings with the smallest total squared miss, the loss L = Σ(φ₀ + φ₁xᵢ − yᵢ)².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there are endless knob settings to try. We need to know, from where we stand,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which direction lowers the loss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the gradient.</a:t>
            </a:r>
          </a:p>
        </p:txBody>
      </p:sp>
      <p:pic>
        <p:nvPicPr>
          <p:cNvPr id="15" name="Picture 14" descr="p21_weigh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048" y="1691640"/>
            <a:ext cx="3222294" cy="243039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323207"/>
            <a:ext cx="4142232" cy="1940433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4877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5060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835271"/>
            <a:ext cx="3776472" cy="740664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926711"/>
            <a:ext cx="35021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grad_ls(phi0, phi1, x, y):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r = ...   # each pup's miss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return dL_dphi0, dL_dphi1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numerical estimate: nudge each knob a tiny amount and watch the loss.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6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2.1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Every pup tugs the line by its miss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Imagine each pup tied to the line by a rubber band: pups above pull it up, pups below pull it down, and distant pups pull hardest.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intercept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(sliding the line up or down) feels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total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pull.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The slope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(tilting it) feels each pull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times that pup's hours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pups far out on the x-axis have a longer lever arm.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Gradient descent follows the pulls, step by step, until they balance: the best 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149856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With rᵢ = φ₀ + φ₁xᵢ − yᵢ, the chain rule gives ∂(rᵢ²)/∂φ = 2rᵢ ∂rᵢ/∂φ:</a:t>
            </a:r>
          </a:p>
        </p:txBody>
      </p:sp>
      <p:pic>
        <p:nvPicPr>
          <p:cNvPr id="15" name="Picture 14" descr="e65427a7cc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885944"/>
            <a:ext cx="3017520" cy="5547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04088" y="5513832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605272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r = phi0 + phi1 * x - 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return 2 * np.sum(r), 2 * np.sum(r * x)</a:t>
            </a:r>
          </a:p>
        </p:txBody>
      </p:sp>
      <p:pic>
        <p:nvPicPr>
          <p:cNvPr id="18" name="Picture 17" descr="s21_landsca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71" y="1691640"/>
            <a:ext cx="4014248" cy="304361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Every model in this course trains this way: write a loss, take its gradient, step downhill. Only the model and the loss change.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7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345263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6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7966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3 · SHALLOW NEURAL NETWORKS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Neural networks are sums of clipped lines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094357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4451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Each hidden unit is a straight line with its negative part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clipped to zero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(a ReLU). Think of a dose–response with a threshold: nothing happens until the input passes it.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Scale each clipped line and add them up, and you get 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bendy line with joints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Enough units can draw any shape: the universal approximation theorem.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14597"/>
            <a:ext cx="5745175" cy="1976628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179189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197477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4dd7f82fb50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526661"/>
            <a:ext cx="4102607" cy="76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361813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Three stages: linear functions → clip at zero → weighted sum.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 units give at most D+1 linear regions.</a:t>
            </a:r>
          </a:p>
        </p:txBody>
      </p:sp>
      <p:pic>
        <p:nvPicPr>
          <p:cNvPr id="16" name="Picture 15" descr="c014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27568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8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3.1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Reading a burrow's shape from ten numbers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burrow surveyor now describes tunnel profiles with a tiny neural network: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three hidden units, ten numbers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in total.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Each hidden unit is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hinge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flat on one side, sloped on the other. The network adds three hinges, so its output is a line with bends in it.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surveyor wants to read the shape straight from the ten numbers, without plotting: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where does the tunnel bend, and how steep is each section?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ten numbers: an offset θ_d0 and slope θ_d1 for each hidden unit, plus output weights φ₀…φ₃.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x-position of each bend (joint), left to right, and the slope of each of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four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straight pieces.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which hinges are switched on changes from region to region, so the slope changes at every joint.</a:t>
            </a:r>
          </a:p>
        </p:txBody>
      </p:sp>
      <p:pic>
        <p:nvPicPr>
          <p:cNvPr id="15" name="Picture 14" descr="p31_join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155" y="1691640"/>
            <a:ext cx="3634080" cy="243039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323207"/>
            <a:ext cx="4142232" cy="1940433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4877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5060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835271"/>
            <a:ext cx="3776472" cy="740664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926711"/>
            <a:ext cx="35021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joints(theta):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region_slopes(phi, theta):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# 4 slopes, left to right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the book's example network (Fig 3.3).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9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3.1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A joint is where one hinge switches on or off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Think of each hidden unit as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receptor with a threshold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Below threshold it does nothing; above it, its response rises in proportion to the input.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output can only bend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where one of these receptors switches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because everything else is straight. Unit d switches where θ_d0 + θ_d1·x = 0.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Between bends the same receptors are on, so the output is straight, with slope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the sum of the units that are 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346579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06e5fc3e8e8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393692"/>
            <a:ext cx="4550664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02462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To find which units are on in a region, test a point inside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308854"/>
            <a:ext cx="6318504" cy="76390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400294"/>
            <a:ext cx="6044184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j = np.sort(-theta[:, 0] / theta[:, 1])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on = theta[:, 0] + theta[:, 1] * x_mid &gt; 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slope = np.sum(phi[1:][on] * theta[on, 1])</a:t>
            </a:r>
          </a:p>
        </p:txBody>
      </p:sp>
      <p:pic>
        <p:nvPicPr>
          <p:cNvPr id="18" name="Picture 17" descr="s31_join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276585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658665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4823257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4841545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170729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Each region is one activation pattern. D hidden units give at most D + 1 regions: more units, more bends, richer shapes.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10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190494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4185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3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Dig the burrow by hand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mob's main burrow has been surveyed. Its cross-section is simple: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flat, a slope down, a steeper slope back up, then flat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again.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surveyor wants a 3-unit network that traces this profile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exactly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so it can be stored as ten numbers and compared with next season's survey.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No training allowed: you'll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set the ten numbers by hand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using what you just learned about joints and slopes.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burrow on x ∈ [0, 1]: flat to 0.2, slope −2 to 0.5, slope +3 to 0.7, then flat.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my_phi (4 numbers) and my_theta (3 × 2) so that the network matches the burrow.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each hinge keeps adding slope to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everything to its right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so think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changes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of slope, not slopes.</a:t>
            </a:r>
          </a:p>
        </p:txBody>
      </p:sp>
      <p:pic>
        <p:nvPicPr>
          <p:cNvPr id="15" name="Picture 14" descr="c028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4737" y="1691640"/>
            <a:ext cx="3628917" cy="183299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725798"/>
            <a:ext cx="4142232" cy="2537841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890391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908679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237863"/>
            <a:ext cx="3776472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329303"/>
            <a:ext cx="3502152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my_phi   = [phi0, phi1, phi2, phi3]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my_theta = [[th10, th11],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[th20, th21],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[th30, th31]]</a:t>
            </a:r>
          </a:p>
        </p:txBody>
      </p:sp>
      <p:pic>
        <p:nvPicPr>
          <p:cNvPr id="21" name="Picture 20" descr="1f9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237607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65007" y="5255895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0.01</a:t>
            </a:r>
          </a:p>
        </p:txBody>
      </p:sp>
      <p:pic>
        <p:nvPicPr>
          <p:cNvPr id="23" name="Picture 22" descr="1f94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7647" y="5237607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1695" y="5255895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0.001</a:t>
            </a:r>
          </a:p>
        </p:txBody>
      </p:sp>
      <p:pic>
        <p:nvPicPr>
          <p:cNvPr id="25" name="Picture 24" descr="1f94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9585" y="5237607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33633" y="5255895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exact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mean squared error against the burrow.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11</a:t>
            </a:r>
          </a:p>
        </p:txBody>
      </p:sp>
      <p:pic>
        <p:nvPicPr>
          <p:cNvPr id="29" name="Picture 28" descr="tb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218497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6985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3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One hinge per bend, sized by the change in slope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Walk along the burrow from the left and watch the slope: at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0.2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it goes 0 → −2, at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0.5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it goes −2 → +3 (a change of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+5</a:t>
            </a:r>
            <a:r>
              <a:rPr sz="1400" b="0" i="0">
                <a:solidFill>
                  <a:srgbClr val="2B2B2B"/>
                </a:solidFill>
                <a:latin typeface="Arial"/>
              </a:rPr>
              <a:t>), at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0.7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it goes +3 → 0 (a change of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−3</a:t>
            </a:r>
            <a:r>
              <a:rPr sz="1400" b="0" i="0">
                <a:solidFill>
                  <a:srgbClr val="2B2B2B"/>
                </a:solidFill>
                <a:latin typeface="Arial"/>
              </a:rPr>
              <a:t>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hinge φ·ReLU[x − c] does nothing until c, then adds slope φ from there on. So put one hinge at each bend,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size it by the change in slope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Like directions: walk flat; at the tree head down; at the rock climb; at the fence level 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881229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737f7a254dd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6318504" cy="2861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4960979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Check after 0.7: −2 + 5 − 3 = 0, flat again. MSE = 0: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gold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245205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36645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my_phi = np.array([0.0, -2.0, 5.0, -3.0])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my_theta = np.array([[-0.2, 1], [-0.5, 1], [-0.7, 1]])</a:t>
            </a:r>
          </a:p>
        </p:txBody>
      </p:sp>
      <p:pic>
        <p:nvPicPr>
          <p:cNvPr id="18" name="Picture 17" descr="sC3_hing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16305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3523308"/>
            <a:ext cx="4142232" cy="152781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3687900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370618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4035372"/>
            <a:ext cx="3776472" cy="878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Any shape with K bends is K hinges. With enough hinges you can approximate any smooth shape: the universal approximation theorem.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12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957173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4085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4 · DEEP NEURAL NETWORKS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Deep networks fold space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1878901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2296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Feed one network's output into another. The first network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folds the input like paper</a:t>
            </a:r>
            <a:r>
              <a:rPr sz="1450" b="0" i="0">
                <a:solidFill>
                  <a:srgbClr val="2B2B2B"/>
                </a:solidFill>
                <a:latin typeface="Arial"/>
              </a:rPr>
              <a:t>: several inputs land on the same point.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Whatever the second network draws is then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copied onto every fold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Depth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multiplies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number of regions; width only adds to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9141"/>
            <a:ext cx="5745175" cy="1843913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96373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3982021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b4c227b2f8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311205"/>
            <a:ext cx="4943856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4689157"/>
            <a:ext cx="5379415" cy="8167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Max linear regions, D units per layer:</a:t>
            </a:r>
          </a:p>
          <a:p>
            <a:pPr algn="l" marL="201168" indent="-182880">
              <a:spcAft>
                <a:spcPts val="2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Shallow: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D + 1</a:t>
            </a:r>
          </a:p>
          <a:p>
            <a:pPr algn="l" marL="201168" indent="-182880">
              <a:spcAft>
                <a:spcPts val="6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K layers: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(D + 1)ᴷ, with far fewer parameters per region</a:t>
            </a:r>
          </a:p>
        </p:txBody>
      </p:sp>
      <p:pic>
        <p:nvPicPr>
          <p:cNvPr id="16" name="Picture 15" descr="c040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370931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13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4.1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Folding the dune sea: predict the regions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From the lookout dune, the territory is a sea of sand ridges: walk straight across it and you go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up, down, up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deep network works like this. The first layer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folds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input: walking steadily along x, its output sweeps up, back down and up again.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second network then reads that folded output. Wherever the walk revisits the same height, the second network does the same thing, so its pattern gets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repeated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net 1, which zig-zags across [−1, 1] in three pieces, and net 2, which has three linear regions.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number of straight pieces (linear regions)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net2(net1(x))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on [−1, 1].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intuition says roughly 3 + 3. But composition doesn't add regions; think about what net 2 sees on each sweep.</a:t>
            </a:r>
          </a:p>
        </p:txBody>
      </p:sp>
      <p:pic>
        <p:nvPicPr>
          <p:cNvPr id="15" name="Picture 14" descr="c033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08672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2979534"/>
            <a:ext cx="4142232" cy="1568577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14412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162414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3491598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3583038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my_prediction = ?   # before you run!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3933558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counting slope changes in the composed function.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14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4.1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Nine regions: three folds × three pieces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Fold a strip of paper into three layers and draw a shape with three straight pieces on top. Unfold it: the shape appears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three times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mirrored on the middle layer.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That's composition. Net 1 sends the input across the full range three times, and each sweep replays net 2's three regions: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3 × 3 = 9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Add another layer and it multiplies again. Depth makes the number of regions grow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exponentially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while the parameter count only grows linearly.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03259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D units per layer, 1 input and 1 output:</a:t>
            </a:r>
          </a:p>
        </p:txBody>
      </p:sp>
      <p:pic>
        <p:nvPicPr>
          <p:cNvPr id="15" name="Picture 14" descr="33e5414cd6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885944"/>
            <a:ext cx="6318504" cy="317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088" y="5276684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Example: 3 units give 4 regions; two layers of 3 units give up to 16.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" y="5560910"/>
            <a:ext cx="6318504" cy="37655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52350"/>
            <a:ext cx="6044184" cy="19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my_prediction = 9</a:t>
            </a:r>
          </a:p>
        </p:txBody>
      </p:sp>
      <p:pic>
        <p:nvPicPr>
          <p:cNvPr id="19" name="Picture 18" descr="s41_compo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293046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498079" y="4823272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4987864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46719" y="500615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59" y="5335336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Depth buys many regions cheaply, but they are copies of each other with symmetries. Deep is efficient, not magic (§4.5).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15</a:t>
            </a:r>
          </a:p>
        </p:txBody>
      </p:sp>
      <p:pic>
        <p:nvPicPr>
          <p:cNvPr id="25" name="Picture 24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218497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6985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5 · LOSS FUNCTIONS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One recipe for every loss function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4206240" cy="3452431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3840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3840479" cy="220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Don't predict the answer. Predict 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probability distribution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over answers, then pick the knobs that make the observed data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most likely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1.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Choose a distribution that fits what you measure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2.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network predicts its parameters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3.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Minimise the negative log-likelihood</a:t>
            </a:r>
          </a:p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4.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Predict with the distribution's peak</a:t>
            </a:r>
          </a:p>
        </p:txBody>
      </p:sp>
      <p:pic>
        <p:nvPicPr>
          <p:cNvPr id="11" name="Picture 10" descr="c8f0efa65d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09503"/>
            <a:ext cx="3621024" cy="524256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74920" y="1737360"/>
          <a:ext cx="65379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51560"/>
                <a:gridCol w="1143000"/>
                <a:gridCol w="1188720"/>
                <a:gridCol w="1371600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You measure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Distribution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Final activation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Loss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Meerkat example</a:t>
                      </a:r>
                    </a:p>
                  </a:txBody>
                  <a:tcPr anchor="ctr" marL="54864" marR="54864">
                    <a:solidFill>
                      <a:srgbClr val="008759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A number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Normal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least squares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pup mass gain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Yes / no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Bernoulli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sigmoid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binary cross-entropy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sentinel duty?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One of K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Categorical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softmax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cross-entropy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eagle, jackal or cobra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A count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Poisson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exp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Poisson NLL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scorpions per hour</a:t>
                      </a:r>
                    </a:p>
                  </a:txBody>
                  <a:tcPr anchor="ctr" marL="54864" marR="54864">
                    <a:solidFill>
                      <a:srgbClr val="E5F3EC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B2B"/>
                          </a:solidFill>
                          <a:latin typeface="Arial"/>
                        </a:rPr>
                        <a:t>An angle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von Mises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−κ cos(y − μ)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heading home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3" name="Picture 12" descr="1f3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59" y="2322576"/>
            <a:ext cx="429768" cy="429768"/>
          </a:xfrm>
          <a:prstGeom prst="rect">
            <a:avLst/>
          </a:prstGeom>
        </p:spPr>
      </p:pic>
      <p:pic>
        <p:nvPicPr>
          <p:cNvPr id="14" name="Picture 13" descr="1f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59" y="3008376"/>
            <a:ext cx="429768" cy="429768"/>
          </a:xfrm>
          <a:prstGeom prst="rect">
            <a:avLst/>
          </a:prstGeom>
        </p:spPr>
      </p:pic>
      <p:pic>
        <p:nvPicPr>
          <p:cNvPr id="15" name="Picture 14" descr="1f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59" y="3694176"/>
            <a:ext cx="429768" cy="429768"/>
          </a:xfrm>
          <a:prstGeom prst="rect">
            <a:avLst/>
          </a:prstGeom>
        </p:spPr>
      </p:pic>
      <p:pic>
        <p:nvPicPr>
          <p:cNvPr id="16" name="Picture 15" descr="1f98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6359" y="4379976"/>
            <a:ext cx="429768" cy="429768"/>
          </a:xfrm>
          <a:prstGeom prst="rect">
            <a:avLst/>
          </a:prstGeom>
        </p:spPr>
      </p:pic>
      <p:pic>
        <p:nvPicPr>
          <p:cNvPr id="17" name="Picture 16" descr="1f9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6359" y="5065776"/>
            <a:ext cx="429768" cy="429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20" y="5760720"/>
            <a:ext cx="6537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04040"/>
                </a:solidFill>
                <a:latin typeface="Arial"/>
              </a:rPr>
              <a:t>Least squares isn't an arbitrary choice: it </a:t>
            </a:r>
            <a:r>
              <a:rPr sz="1400" b="1" i="0">
                <a:solidFill>
                  <a:srgbClr val="404040"/>
                </a:solidFill>
                <a:latin typeface="Arial"/>
              </a:rPr>
              <a:t>is</a:t>
            </a:r>
            <a:r>
              <a:rPr sz="1400" b="0" i="0">
                <a:solidFill>
                  <a:srgbClr val="404040"/>
                </a:solidFill>
                <a:latin typeface="Arial"/>
              </a:rPr>
              <a:t> maximum likelihood under Gaussian noise.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16</a:t>
            </a:r>
          </a:p>
        </p:txBody>
      </p:sp>
      <p:pic>
        <p:nvPicPr>
          <p:cNvPr id="20" name="Picture 19" descr="tb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5.3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Will this meerkat go on sentinel duty?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5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While the mob forages, one meerkat stands guard on a high point, watching for eagles and jackals. Guarding costs foraging time.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Meerkats tend to volunteer once they've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eaten well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a full stomach makes guarding cheap. Researchers call them 'selfish sentinels'.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many animals we've logged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grams eaten in the last hour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and whether each one then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went on guard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(1) or not (0).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pairs (grams eaten, yes/no). The network outputs a raw score f; the sigmoid turns it into a probability sig[f].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training loss (binary cross-entropy) and its gradient with respect to f.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loss contains log(sig[f]). For a very confident score like f = −800, sig[f] rounds to 0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log(0) = −∞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Training would crash.</a:t>
            </a:r>
          </a:p>
        </p:txBody>
      </p:sp>
      <p:pic>
        <p:nvPicPr>
          <p:cNvPr id="15" name="Picture 14" descr="c05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36789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260707"/>
            <a:ext cx="4142232" cy="1955101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4252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4435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3772771"/>
            <a:ext cx="3776472" cy="554736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3864211"/>
            <a:ext cx="3502152" cy="371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bce_from_logits(f, y):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bce_grad_logits(f, y):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4400659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huge scores (±1000) must give finite values, and the gradient must match a numerical estimate.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17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5.3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The gradient is prediction minus truth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After the algebra, the correction signal is simply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predicted probability minus what actually happened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Said 90% guard and the meerkat didn't go: 0.9 − 0 =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0.9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 strong push down. Said 95% and it went: 0.95 − 1 =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−0.05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 gentle nudge. The model learns most from its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surprises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and a push is never bigger than 1.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stability, compute it in log space, as you would to multiply tiny probabilities.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157603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188559d2685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5934456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043678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Use sig′ = sig·(1 − sig). For the loss, −log sig[f] = softplus[−f]: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327904"/>
            <a:ext cx="6318504" cy="76390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419344"/>
            <a:ext cx="6044184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loss = np.sum(y * np.logaddexp(0, -f)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              + (1 - y) * np.logaddexp(0, f))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grad = 1 / (1 + np.exp(-f)) - y</a:t>
            </a:r>
          </a:p>
        </p:txBody>
      </p:sp>
      <p:pic>
        <p:nvPicPr>
          <p:cNvPr id="18" name="Picture 17" descr="s53_gr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3241" y="1691640"/>
            <a:ext cx="2731909" cy="304361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Least squares (2.1) and softmax with cross-entropy (5.4) also give 'prediction minus truth'. That's why these pairings train so well.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18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5.4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Decoding alarm calls without blowing up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Meerkats give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different alarm calls for different predators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An eagle call sends the mob diving into bolt-holes; a jackal call makes them bunch; a cobra call brings them in to mob the snake.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hundreds of recorded calls we've measured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peak frequency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and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duration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and we know which predator it was.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classifier turns the two features into three scores,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softmax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turns the scores into three probabilities that add up to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 (3, N) array of scores z: one row per predator, one column per recording.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softmax down each column: p_k = e^z_k / Σ e^z_k′.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 confident network can output scores like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1000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and e¹⁰⁰⁰ is too big for a computer (the limit is about 10³⁰⁸). np.exp(1000) gives inf, and inf / inf = nan.</a:t>
            </a:r>
          </a:p>
        </p:txBody>
      </p:sp>
      <p:pic>
        <p:nvPicPr>
          <p:cNvPr id="15" name="Picture 14" descr="c05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796071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688879"/>
            <a:ext cx="4142232" cy="1754504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853471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871759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200943"/>
            <a:ext cx="3776472" cy="554736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292383"/>
            <a:ext cx="3502152" cy="371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softmax(z):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# normalise over axis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4828831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ordinary scores and huge ones like [1000, 999, 995].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19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5.4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Subtract the biggest score first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Softmax only cares about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differences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between scores. Scores of 1000, 999 and 995 mean exactly the same as 0, −1 and −5.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It's like fluorescence: subtracting the same background from every channel doesn't change which channel is brightest, or by how much.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So subtract each column's largest score first: the top becomes e⁰ = 1 and nothing overflows. Here: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eagle 0.73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jackal 0.27, cobra 0.005.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186432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f94366844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393692"/>
            <a:ext cx="3233928" cy="591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058156"/>
            <a:ext cx="6318504" cy="284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Choose c = max_k z_k for each column.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342382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433822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e = np.exp(z - z.max(axis=0, keepdims=True))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return e / e.sum(axis=0, keepdims=True)</a:t>
            </a:r>
          </a:p>
        </p:txBody>
      </p:sp>
      <p:pic>
        <p:nvPicPr>
          <p:cNvPr id="18" name="Picture 17" descr="s54_s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165100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3543812"/>
            <a:ext cx="4142232" cy="152781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3708404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372669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4055876"/>
            <a:ext cx="3776472" cy="878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Every deep-learning library does this internally (the log-sum-exp trick). That's why loss functions take raw scores (logits), not probabilities.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20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5.6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Which way is the burrow?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9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At dusk each foraging group heads home to the sleeping burrow, and volunteers record its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compass heading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as it sets off.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burrow lies roughly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due west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so headings cluster around 180°. Some groups leave at 175°, others at −178° (which is 182°, just past west).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station wants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average heading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to see whether the mob's navigation changes through the 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253742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6593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50 headings in radians, between −π and π, clustered around ±π (due west).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best single direction μ̂: the von Mises maximum-likelihood estimate.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angles wrap: +179° and −179° are 2° apart, but as numbers they're 358 apart. The plain average (np.mean) comes out near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0°: due east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the opposite of home.</a:t>
            </a:r>
          </a:p>
        </p:txBody>
      </p:sp>
      <p:pic>
        <p:nvPicPr>
          <p:cNvPr id="15" name="Picture 14" descr="p56_compa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442" y="1691640"/>
            <a:ext cx="2793507" cy="280225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695062"/>
            <a:ext cx="4142232" cy="1568577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859655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877942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5207127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5298566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vonmises_mu_mle(angles):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brute-force search for the best μ on headings clustered around west.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21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5.6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Average the arrows, not the numbers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Turn each heading into a little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arrow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Lay the arrows head to tail; the direction from start to finish is the average heading.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Near west, arrows at 179° and −179° both point almost exactly west, so they reinforce each other. Averaging the numbers instead gives 0°: east.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same trap catches anything circular in biology: time of day, circadian phase, cell-migration direction, dihedral angles. Plain averages break at the wrap-around; arrow averages don't.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3784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04d64e3c95f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6318504" cy="4283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5103243"/>
            <a:ext cx="6318504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Expand sin(yᵢ − μ) = sin yᵢ cos μ − cos yᵢ sin μ; setting the sum to 0 gives tan μ = Σ sin yᵢ / Σ cos yᵢ.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" y="5595495"/>
            <a:ext cx="6318504" cy="376555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686935"/>
            <a:ext cx="6044184" cy="193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np.arctan2(np.sin(a).sum(), np.cos(a).sum())</a:t>
            </a:r>
          </a:p>
        </p:txBody>
      </p:sp>
      <p:pic>
        <p:nvPicPr>
          <p:cNvPr id="18" name="Picture 17" descr="s56_com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2137" y="1691640"/>
            <a:ext cx="3034117" cy="304361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Pick a distribution that matches the data's shape. Least squares assumes a straight line; angles live on a circle.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22</a:t>
            </a:r>
          </a:p>
        </p:txBody>
      </p:sp>
      <p:pic>
        <p:nvPicPr>
          <p:cNvPr id="24" name="Picture 23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154489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0584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6 · FITTING MODELS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Walking downhill in the fog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386012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73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Gradient descent: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feel the slope, take a step downhill, repeat. Real network losses are bumpy, with many dips and flat stretches.</a:t>
            </a:r>
          </a:p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SGD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uses a random handful of examples per step: cheap and noisy, and the noise helps it escape bad dips.</a:t>
            </a:r>
          </a:p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2B2B2B"/>
                </a:solidFill>
                <a:latin typeface="Arial"/>
              </a:rPr>
              <a:t>Momentum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builds up speed like a rolling ball.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Adam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also gives every direction a similar step size.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06252"/>
            <a:ext cx="5745175" cy="1702308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7084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489132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fe1e37ebfb8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818316"/>
            <a:ext cx="1618488" cy="487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379148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α is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learning rate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the step length. One pass through all the data is an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epoch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pic>
        <p:nvPicPr>
          <p:cNvPr id="16" name="Picture 15" descr="c068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1628" y="1691640"/>
            <a:ext cx="2673654" cy="457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23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6.4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Better ways to walk downhill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Training a network is like finding the lowest point of a landscape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thick fog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you can only feel the slope under your feet.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Plain gradient descent steps straight downhill each time. In a long, narrow valley it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zig-zags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between the steep walls and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crawls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along the gentle floor.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heavy ball does better: it builds up speed in consistent directions and rolls straight through small bumps.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grad_fn(phi), which returns the gradient anywhere, a start point and a learning rate α.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momentum, Nesterov and Adam, each returning its path, exactly as in eqs 6.11, 6.12 and 6.15–6.17.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details matter: Nesterov measures the gradient at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look-ahead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point, and Adam needs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bias correction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(t + 1 in the exponents).</a:t>
            </a:r>
          </a:p>
        </p:txBody>
      </p:sp>
      <p:pic>
        <p:nvPicPr>
          <p:cNvPr id="15" name="Picture 14" descr="ch6_ba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6101" y="1691640"/>
            <a:ext cx="4086188" cy="224447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137278"/>
            <a:ext cx="4142232" cy="2126361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301871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32015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649342"/>
            <a:ext cx="3776472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740782"/>
            <a:ext cx="3502152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momentum(grad_fn, phi,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 alpha, beta, n):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nesterov(...)  # same args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def adam(..., gamma, eps)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step-by-step comparison with reference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24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6.4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Momentum remembers; Adam rescales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Momentum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is a heavy ball: it keeps a running average of recent gradients. Consistent directions (along the valley) build speed; directions that flip (across it) cancel out.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Nesterov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looks before it leaps: it measures the slope where momentum is about to carry it, so it overshoots less.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Adam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also divides by each knob's typical gradient size, so every knob moves at a similar pace (and corrects its slow start from zero).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63496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d8b5869494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5425440" cy="396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04088" y="5071110"/>
            <a:ext cx="6318504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162550"/>
            <a:ext cx="6044184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 = beta * m + (1 - beta) * 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v = gamma * v + (1 - gamma) * g ** 2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mt, vt = m / (1 - beta ** (t + 1)), v / (1 - gamma ** (t + 1))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phi = phi - alpha * mt / (np.sqrt(vt) + eps)</a:t>
            </a:r>
          </a:p>
        </p:txBody>
      </p:sp>
      <p:pic>
        <p:nvPicPr>
          <p:cNvPr id="17" name="Picture 16" descr="c074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79" y="1691640"/>
            <a:ext cx="4142232" cy="156855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498079" y="346136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3625958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19" y="364424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397343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Adam is the default optimiser in most deep learning today because it needs the least tuning.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25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190494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4185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6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Race to the burrow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storm is coming and a lost pup must get home. Between it and the burrow lies a long,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curved, banana-shaped valley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with steep walls and an almost flat floor.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pup starts at (−1.5, 2) and the burrow is at (1, 1). The height of the land is L(a, b) = (1 − a)² + 20(b − a²)².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Plain gradient descent with a safe step size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still isn't home after 3,000 steps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183769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24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dune function, its gradient, the start point and your three optimisers from 6.4.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 path that gets home (loss &lt; 10⁻⁴) in as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few steps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as possible.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steep walls punish big steps (the walk bounces or blows up), and the flat floor punishes small ones. One step size can't suit both.</a:t>
            </a:r>
          </a:p>
        </p:txBody>
      </p:sp>
      <p:pic>
        <p:nvPicPr>
          <p:cNvPr id="15" name="Picture 14" descr="pC6_du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837" y="1691640"/>
            <a:ext cx="2974716" cy="220484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097654"/>
            <a:ext cx="4142232" cy="2165985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262247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280534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609719"/>
            <a:ext cx="3776472" cy="554736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701158"/>
            <a:ext cx="3502152" cy="371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my_path = adam(dune_grad, [-1.5, 2.0],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              alpha=?, ...)</a:t>
            </a:r>
          </a:p>
        </p:txBody>
      </p:sp>
      <p:pic>
        <p:nvPicPr>
          <p:cNvPr id="21" name="Picture 20" descr="1f94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5237607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65007" y="525589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2,000</a:t>
            </a:r>
          </a:p>
        </p:txBody>
      </p:sp>
      <p:pic>
        <p:nvPicPr>
          <p:cNvPr id="23" name="Picture 22" descr="1f94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62897" y="5237607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346945" y="525589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600</a:t>
            </a:r>
          </a:p>
        </p:txBody>
      </p:sp>
      <p:pic>
        <p:nvPicPr>
          <p:cNvPr id="25" name="Picture 24" descr="1f94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01325" y="5237607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485373" y="525589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&lt; 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steps until the loss first drops below 10⁻⁴.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26</a:t>
            </a:r>
          </a:p>
        </p:txBody>
      </p:sp>
      <p:pic>
        <p:nvPicPr>
          <p:cNvPr id="29" name="Picture 28" descr="tb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3218497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66985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CHALLENGE 6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Adam gets home in 160 steps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valley is steep in one direction and nearly flat in the other. Plain gradient descent needs a step small enough not to bounce off the walls, so it shuffles along the floor.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Adam measures how steep each direction usually is and divides by it: careful steps across the walls, long strides along the floor. With α = 0.2 it gets home in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160 steps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: gold.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Momentum with a larger learning rate also does well.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938020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601718"/>
            <a:ext cx="6318504" cy="570230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693158"/>
            <a:ext cx="6044184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adam(dune_grad, [-1.5, 2.0], alpha=0.2,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8EEF2"/>
                </a:solidFill>
                <a:latin typeface="Courier New"/>
              </a:rPr>
              <a:t>     beta=0.9, gamma=0.99, n_steps=3000)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245100"/>
            <a:ext cx="6318504" cy="7002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Plain descent is slow because the safe step is set by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steepest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direction, but progress depends on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flattest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 Their ratio (the condition number) sets the step count.</a:t>
            </a:r>
          </a:p>
        </p:txBody>
      </p:sp>
      <p:pic>
        <p:nvPicPr>
          <p:cNvPr id="17" name="Picture 16" descr="sC6_ra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6014" y="1691640"/>
            <a:ext cx="4106362" cy="304361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498079" y="4936426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f9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5101018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46719" y="511930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448490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Real networks have millions of directions with wildly different steepness, which is why adaptive optimisers like Adam are the default.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27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439691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4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8910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7 · GRADIENTS AND INITIALISATION</a:t>
            </a:r>
          </a:p>
        </p:txBody>
      </p:sp>
      <p:pic>
        <p:nvPicPr>
          <p:cNvPr id="5" name="Picture 4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Backprop: the chain rule with a good memory</a:t>
            </a:r>
          </a:p>
        </p:txBody>
      </p:sp>
      <p:pic>
        <p:nvPicPr>
          <p:cNvPr id="7" name="Picture 6" descr="ch7_ch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2585" y="1600200"/>
            <a:ext cx="8916348" cy="228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069080"/>
            <a:ext cx="5408676" cy="2094357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233672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4251960"/>
            <a:ext cx="50429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81144"/>
            <a:ext cx="5042916" cy="14451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To learn, every knob needs to know how it affects the loss.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Pass the error backwards</a:t>
            </a:r>
            <a:r>
              <a:rPr sz="1450" b="0" i="0">
                <a:solidFill>
                  <a:srgbClr val="2B2B2B"/>
                </a:solidFill>
                <a:latin typeface="Arial"/>
              </a:rPr>
              <a:t>, one stage at a time, like tracing a signalling cascade back from the phenotype.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Each stage multiplies by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how sensitive it is to its input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Store every value on the way forward so nothing is computed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4069080"/>
            <a:ext cx="5408676" cy="187985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f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4516" y="423367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80276" y="4251960"/>
            <a:ext cx="50429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5" name="Picture 14" descr="f58cc8acbe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4516" y="4581144"/>
            <a:ext cx="2822448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14516" y="5111496"/>
            <a:ext cx="5042916" cy="7002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For a deep ReLU net the same rule becomes matrix products (eqs 7.24–7.26). PyTorch's loss.backward() does exactly this.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28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7.1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Whispers down the burrow: backprop by hand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19949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005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sentinel spots an eagle and calls. The alarm passes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down a chain of meerkats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each changing it a little. Later the mob asks: had the first meerkat called louder, how much louder would the last call have been? Work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backwards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multiplying each meerkat's amplification.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 network is the same chain, and every parameter needs to know how the loss would change if it changed.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2860"/>
            <a:ext cx="6629400" cy="183769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9700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3988307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17492"/>
            <a:ext cx="6318504" cy="124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toy model (sin, exp, cos, one unit per layer) with the forward pass done and every value stored.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gradient of the loss for all 8 parameters (β₀…β₃, ω₀…ω₃).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each parameter affects the loss through every layer above it; working forwards repeats the same products.</a:t>
            </a:r>
          </a:p>
        </p:txBody>
      </p:sp>
      <p:pic>
        <p:nvPicPr>
          <p:cNvPr id="15" name="Picture 14" descr="p71_chain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0629" y="1691640"/>
            <a:ext cx="3257133" cy="243039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323207"/>
            <a:ext cx="4142232" cy="1940433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48779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50608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835271"/>
            <a:ext cx="3776472" cy="740664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926711"/>
            <a:ext cx="350215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dl_df3 = 2 * (v['f3'] - y)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dl_dh3 = ?   # TODO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dl_df2 = ?   # ... to dl_df0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9087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finite-difference estimates of all 8 gradients.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29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7.1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One local derivative per link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1994916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005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Walk back along the chain. At each link ask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'if this changed a little, how much would the next one change?'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and multiply: ω for a weighted sum, cos for sin, exp for exp, −sin for cos.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It's fast because the forward pass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stored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every value (h₂ = exp f₁ is already known) and each step reuses the one above it. One backward pass costs about one forward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32860"/>
            <a:ext cx="6629400" cy="159410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9700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3988307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317492"/>
            <a:ext cx="6318504" cy="926592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408932"/>
            <a:ext cx="6044184" cy="743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dl_dh3 = p['omega3'] * dl_df3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dl_df2 = -np.sin(v['f2']) * dl_dh3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dl_df1 = v['h2'] * dl_dh2     # exp' = exp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beta_k = dl_df_k;  omega_k = h_k * dl_df_k</a:t>
            </a:r>
          </a:p>
        </p:txBody>
      </p:sp>
      <p:pic>
        <p:nvPicPr>
          <p:cNvPr id="16" name="Picture 15" descr="s71_chain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3090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98079" y="4983647"/>
            <a:ext cx="4142232" cy="1126616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f9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5148239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5166527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5495711"/>
            <a:ext cx="3776472" cy="477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PyTorch's loss.backward() does exactly this, for any network.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30</a:t>
            </a:r>
          </a:p>
        </p:txBody>
      </p:sp>
      <p:pic>
        <p:nvPicPr>
          <p:cNvPr id="22" name="Picture 21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439691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8910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7 · GRADIENTS AND INITIALISATION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Keep the whisper audible: He initialisation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309812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16605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Whisper a message down a line of 50 meerkats and it either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fades to nothing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or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becomes a scream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The signal in a deep network does the same.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So choose the random starting weights so that each layer keeps the signal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the same size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For ReLU that means variance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2 / D</a:t>
            </a:r>
            <a:r>
              <a:rPr sz="1450" b="0" i="0">
                <a:solidFill>
                  <a:srgbClr val="2B2B2B"/>
                </a:solidFill>
                <a:latin typeface="Arial"/>
              </a:rPr>
              <a:t>: the 2 makes up for ReLU zeroing half the signal.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0052"/>
            <a:ext cx="5745175" cy="1650492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394644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412932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0bccb7fca1c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742116"/>
            <a:ext cx="3325368" cy="4358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251132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same argument backwards uses the next layer's width; a compromise is 4 / (Dₕ + Dₕ′).</a:t>
            </a:r>
          </a:p>
        </p:txBody>
      </p:sp>
      <p:pic>
        <p:nvPicPr>
          <p:cNvPr id="16" name="Picture 15" descr="ch7_in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33959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31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4114609" cy="365760"/>
          </a:xfrm>
          <a:prstGeom prst="roundRect">
            <a:avLst>
              <a:gd name="adj" fmla="val 50000"/>
            </a:avLst>
          </a:prstGeom>
          <a:solidFill>
            <a:srgbClr val="136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3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356596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CHAPTER 8 · MEASURING 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Does it work on meerkats it has never heard?</a:t>
            </a:r>
          </a:p>
        </p:txBody>
      </p:sp>
      <p:pic>
        <p:nvPicPr>
          <p:cNvPr id="6" name="Picture 5" descr="meerkat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5745175" cy="2677668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85623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" y="1874520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03704"/>
            <a:ext cx="5379415" cy="2028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Always test on data the model has </a:t>
            </a:r>
            <a:r>
              <a:rPr sz="1450" b="1" i="0">
                <a:solidFill>
                  <a:srgbClr val="2B2B2B"/>
                </a:solidFill>
                <a:latin typeface="Arial"/>
              </a:rPr>
              <a:t>never seen</a:t>
            </a:r>
            <a:r>
              <a:rPr sz="1450" b="0" i="0">
                <a:solidFill>
                  <a:srgbClr val="2B2B2B"/>
                </a:solidFill>
                <a:latin typeface="Arial"/>
              </a:rPr>
              <a:t>. Test error comes from three places:</a:t>
            </a:r>
          </a:p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Noise: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measurement itself. You can't beat it.</a:t>
            </a:r>
          </a:p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Bias: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model is too simple to capture the truth.</a:t>
            </a:r>
          </a:p>
          <a:p>
            <a:pPr algn="l" marL="201168" indent="-182880">
              <a:spcAft>
                <a:spcPts val="600"/>
              </a:spcAft>
              <a:buClr>
                <a:srgbClr val="008759"/>
              </a:buClr>
              <a:buFont typeface="Arial"/>
              <a:buChar char="•"/>
            </a:pPr>
            <a:r>
              <a:rPr sz="1450" b="1" i="0">
                <a:solidFill>
                  <a:srgbClr val="2B2B2B"/>
                </a:solidFill>
                <a:latin typeface="Arial"/>
              </a:rPr>
              <a:t>Variance:</a:t>
            </a:r>
            <a:r>
              <a:rPr sz="1450" b="0" i="0">
                <a:solidFill>
                  <a:srgbClr val="2B2B2B"/>
                </a:solidFill>
                <a:latin typeface="Arial"/>
              </a:rPr>
              <a:t> the model chases the quirks of this particular training set.</a:t>
            </a: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B2B2B"/>
                </a:solidFill>
                <a:latin typeface="Arial"/>
              </a:rPr>
              <a:t>More data cuts variance. More capacity cuts bias but usually raises variance.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97908"/>
            <a:ext cx="5745175" cy="1586484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76250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780788"/>
            <a:ext cx="5379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126881cbea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09972"/>
            <a:ext cx="4553712" cy="3718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554980"/>
            <a:ext cx="5379415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Choose hyperparameters on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validation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set; touch the test set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once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pic>
        <p:nvPicPr>
          <p:cNvPr id="16" name="Picture 15" descr="c103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3855" y="1691640"/>
            <a:ext cx="5029200" cy="38141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32</a:t>
            </a:r>
          </a:p>
        </p:txBody>
      </p:sp>
      <p:pic>
        <p:nvPicPr>
          <p:cNvPr id="18" name="Picture 17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8.1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Confidently wrong: loss up, error flat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39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station trains a classifier on thousands of recorded meerkat calls (ten call types, MNIST-1D style), keeping some recordings back as a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test set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They track two numbers on the test set: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error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(the fraction of calls labelled wrong) and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loss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(cross-entropy, which also charges for how confident each prediction is).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Late in training, something odd happens: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the test loss climbs, but the test error stays flat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training and test curves for error and loss over 6,000 steps (Fig 8.2).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the explanation.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(a)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learning rate too high;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(b)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same mistakes, growing confidence;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(c)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mislabelled test set;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(d)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dying ReLUs.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error only looks at the top answer; loss looks at the probability given to the truth. What can change one but not the other?</a:t>
            </a:r>
          </a:p>
        </p:txBody>
      </p:sp>
      <p:pic>
        <p:nvPicPr>
          <p:cNvPr id="15" name="Picture 14" descr="c095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166220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3555016"/>
            <a:ext cx="4142232" cy="1367980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3719608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737896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4067080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4158520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answer_8_1 = '?'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4509040"/>
            <a:ext cx="3776472" cy="27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quick multiple-choice check.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33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8.1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(b) Same mistakes, growing confidence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classifier keeps getting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same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test calls wrong, but it grows ever more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certain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about those wrong answers.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Error only counts wrong answers, so it stays flat. Cross-entropy charges for confidence: being 99.9% sure of a wrong answer costs far more than being 60% sure, so the loss climbs.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Like a reviewer who doesn't change any verdict but argues each one louder and louder.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458468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pic>
        <p:nvPicPr>
          <p:cNvPr id="14" name="Picture 13" descr="d546f84657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" y="4601718"/>
            <a:ext cx="4005072" cy="2987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" y="4973574"/>
            <a:ext cx="6318504" cy="492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(a)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would ruin the training loss too.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(c)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mislabelling doesn't change over training.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(d)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would raise the error, not just the loss.</a:t>
            </a:r>
          </a:p>
        </p:txBody>
      </p:sp>
      <p:pic>
        <p:nvPicPr>
          <p:cNvPr id="16" name="Picture 15" descr="c052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1546" y="1691640"/>
            <a:ext cx="2135299" cy="284302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98079" y="4735830"/>
            <a:ext cx="4142232" cy="152781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f9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59" y="4900422"/>
            <a:ext cx="27432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46719" y="491871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59" y="5247894"/>
            <a:ext cx="3776472" cy="878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This is overfitting: the model drives its training loss to zero by growing more confident. Regularisation and early stopping (chapter 9) fight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34</a:t>
            </a:r>
          </a:p>
        </p:txBody>
      </p:sp>
      <p:pic>
        <p:nvPicPr>
          <p:cNvPr id="22" name="Picture 21" descr="tb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42463" cy="365760"/>
          </a:xfrm>
          <a:prstGeom prst="roundRect">
            <a:avLst>
              <a:gd name="adj" fmla="val 50000"/>
            </a:avLst>
          </a:prstGeom>
          <a:solidFill>
            <a:srgbClr val="EF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3938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8.4 · THE PROBLEM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Bigger networks: better or worse?</a:t>
            </a:r>
          </a:p>
        </p:txBody>
      </p:sp>
      <p:pic>
        <p:nvPicPr>
          <p:cNvPr id="6" name="Picture 5" descr="meerkat_th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071116"/>
          </a:xfrm>
          <a:prstGeom prst="roundRect">
            <a:avLst>
              <a:gd name="adj" fmla="val 5000"/>
            </a:avLst>
          </a:prstGeom>
          <a:solidFill>
            <a:srgbClr val="F7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476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The station has just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30 noisy measurements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of a simple relationship and wants to fit it with a neural network. How big should the network be?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Classical statistics says too small can't capture the pattern (bias) and too big fits the noise (variance), so test error should be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U-shaped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We test it: networks from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1 to 2,000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hidden units, all fitted to the same 30 points and scored on fresh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9060"/>
            <a:ext cx="6629400" cy="2045715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046220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06450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What we're trying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393692"/>
            <a:ext cx="6318504" cy="1451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have: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training and test error against network width (random ReLU features, minimum-norm fit).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We want: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where the test-error peak sits.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(a)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at D = 1;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(b)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where the model can first memorise the data;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(c)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at the largest width;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(d)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at exactly D = 30.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Arial"/>
              </a:rPr>
              <a:t>The catch: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past the peak, the test error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falls again</a:t>
            </a:r>
            <a:r>
              <a:rPr sz="1400" b="0" i="0">
                <a:solidFill>
                  <a:srgbClr val="2B2B2B"/>
                </a:solidFill>
                <a:latin typeface="Arial"/>
              </a:rPr>
              <a:t>, even with far more parameters than data points.</a:t>
            </a:r>
          </a:p>
        </p:txBody>
      </p:sp>
      <p:pic>
        <p:nvPicPr>
          <p:cNvPr id="15" name="Picture 14" descr="c105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279695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689758"/>
            <a:ext cx="4142232" cy="1367980"/>
          </a:xfrm>
          <a:prstGeom prst="roundRect">
            <a:avLst>
              <a:gd name="adj" fmla="val 5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4d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85435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87263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Your task in the notebook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59" y="5201822"/>
            <a:ext cx="3776472" cy="368808"/>
          </a:xfrm>
          <a:prstGeom prst="roundRect">
            <a:avLst>
              <a:gd name="adj" fmla="val 4000"/>
            </a:avLst>
          </a:prstGeom>
          <a:solidFill>
            <a:srgbClr val="2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5293262"/>
            <a:ext cx="3502152" cy="185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8EEF2"/>
                </a:solidFill>
                <a:latin typeface="Courier New"/>
              </a:rPr>
              <a:t>answer_8_4 = '?'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5643782"/>
            <a:ext cx="3776472" cy="27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B2B"/>
                </a:solidFill>
                <a:latin typeface="Arial"/>
              </a:rPr>
              <a:t>Checked by:</a:t>
            </a:r>
            <a:r>
              <a:rPr sz="1350" b="0" i="0">
                <a:solidFill>
                  <a:srgbClr val="2B2B2B"/>
                </a:solidFill>
                <a:latin typeface="Arial"/>
              </a:rPr>
              <a:t> a quick multiple-choice check.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35</a:t>
            </a:r>
          </a:p>
        </p:txBody>
      </p:sp>
      <p:pic>
        <p:nvPicPr>
          <p:cNvPr id="23" name="Picture 22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2970466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5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242182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PUZZLE 8.4 · THE SOLUTION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(b) The peak is where it can first memorise the data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691640"/>
            <a:ext cx="6629400" cy="2279142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f4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1828800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847088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In plain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76272"/>
            <a:ext cx="6318504" cy="1684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At the peak, the network has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just enough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flexibility to pass through all 30 noisy points, and essentially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one way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to do it: a wild, wiggly fit that fails on new data.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With many more units there are endless ways to fit every point. The fit picks the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smoothest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one (minimum norm), and smooth fits generalise, so test error falls again: </a:t>
            </a:r>
            <a:r>
              <a:rPr sz="1400" b="1" i="0">
                <a:solidFill>
                  <a:srgbClr val="2B2B2B"/>
                </a:solidFill>
                <a:latin typeface="Arial"/>
              </a:rPr>
              <a:t>double descent</a:t>
            </a:r>
            <a:r>
              <a:rPr sz="1400" b="0" i="0">
                <a:solidFill>
                  <a:srgbClr val="2B2B2B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Arial"/>
              </a:rPr>
              <a:t>Not exactly D = 30: random hinges rarely land between every pair of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7086"/>
            <a:ext cx="6629400" cy="1994916"/>
          </a:xfrm>
          <a:prstGeom prst="roundRect">
            <a:avLst>
              <a:gd name="adj" fmla="val 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5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4254246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9848" y="4272534"/>
            <a:ext cx="6318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The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601718"/>
            <a:ext cx="6318504" cy="14005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00" b="1" i="0">
                <a:solidFill>
                  <a:srgbClr val="2B2B2B"/>
                </a:solidFill>
                <a:latin typeface="Arial"/>
              </a:rPr>
              <a:t>Interpolation threshold: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training error first reaches ≈ 0, and test error peaks.</a:t>
            </a:r>
          </a:p>
          <a:p>
            <a:pPr algn="l" marL="201168" indent="-182880">
              <a:spcAft>
                <a:spcPts val="300"/>
              </a:spcAft>
              <a:buClr>
                <a:srgbClr val="008759"/>
              </a:buClr>
              <a:buFont typeface="Arial"/>
              <a:buChar char="•"/>
            </a:pPr>
            <a:r>
              <a:rPr sz="1400" b="1" i="0">
                <a:solidFill>
                  <a:srgbClr val="2B2B2B"/>
                </a:solidFill>
                <a:latin typeface="Arial"/>
              </a:rPr>
              <a:t>Second descent:</a:t>
            </a:r>
            <a:r>
              <a:rPr sz="1400" b="0" i="0">
                <a:solidFill>
                  <a:srgbClr val="2B2B2B"/>
                </a:solidFill>
                <a:latin typeface="Arial"/>
              </a:rPr>
              <a:t> among many perfect fits, minimum norm picks a smooth one.</a:t>
            </a:r>
          </a:p>
          <a:p>
            <a:pPr algn="l" marL="201168" indent="-182880">
              <a:spcAft>
                <a:spcPts val="600"/>
              </a:spcAft>
              <a:buClr>
                <a:srgbClr val="008759"/>
              </a:buClr>
              <a:buFont typeface="Arial"/>
              <a:buChar char="•"/>
            </a:pPr>
            <a:r>
              <a:rPr sz="1400" b="0" i="0">
                <a:solidFill>
                  <a:srgbClr val="2B2B2B"/>
                </a:solidFill>
                <a:latin typeface="Arial"/>
              </a:rPr>
              <a:t>Here it recovers but doesn't beat the classical sweet spot; on real problems it often does.</a:t>
            </a:r>
          </a:p>
        </p:txBody>
      </p:sp>
      <p:pic>
        <p:nvPicPr>
          <p:cNvPr id="15" name="Picture 14" descr="c105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79" y="1691640"/>
            <a:ext cx="4142232" cy="279695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98079" y="4689758"/>
            <a:ext cx="4142232" cy="1327213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f9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59" y="485435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4872638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Take-away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5201822"/>
            <a:ext cx="3776472" cy="677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Arial"/>
              </a:rPr>
              <a:t>Bigger can be better, but only thanks to the inductive bias of how we fit. Why that works is chapter 9's question.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36</a:t>
            </a:r>
          </a:p>
        </p:txBody>
      </p:sp>
      <p:pic>
        <p:nvPicPr>
          <p:cNvPr id="21" name="Picture 20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47472"/>
            <a:ext cx="1859369" cy="365760"/>
          </a:xfrm>
          <a:prstGeom prst="roundRect">
            <a:avLst>
              <a:gd name="adj" fmla="val 50000"/>
            </a:avLst>
          </a:prstGeom>
          <a:solidFill>
            <a:srgbClr val="008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f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"/>
            <a:ext cx="274320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47472"/>
            <a:ext cx="13107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BACK AT TBIO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48640" y="822960"/>
            <a:ext cx="10149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B2B2B"/>
                </a:solidFill>
                <a:latin typeface="Arial"/>
              </a:rPr>
              <a:t>From meerkats to molecules</a:t>
            </a:r>
          </a:p>
        </p:txBody>
      </p:sp>
      <p:pic>
        <p:nvPicPr>
          <p:cNvPr id="6" name="Picture 5" descr="meerkat_w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59840" cy="1417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737360"/>
            <a:ext cx="3514344" cy="2926080"/>
          </a:xfrm>
          <a:prstGeom prst="roundRect">
            <a:avLst>
              <a:gd name="adj" fmla="val 5000"/>
            </a:avLst>
          </a:prstGeom>
          <a:solidFill>
            <a:srgbClr val="E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202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5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43" y="2060143"/>
            <a:ext cx="497433" cy="4974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91640" y="2103120"/>
            <a:ext cx="2188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B2B2B"/>
                </a:solidFill>
                <a:latin typeface="Arial"/>
              </a:rPr>
              <a:t>Bias or variance?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305714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Arial"/>
              </a:rPr>
              <a:t>A deep network is a flexible classifier. With ~100 measured proteins, where would bias dominate, and where would variance?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7304" y="1737360"/>
            <a:ext cx="3514344" cy="2926080"/>
          </a:xfrm>
          <a:prstGeom prst="roundRect">
            <a:avLst>
              <a:gd name="adj" fmla="val 5000"/>
            </a:avLst>
          </a:prstGeom>
          <a:solidFill>
            <a:srgbClr val="E4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5904" y="19202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f9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807" y="2060143"/>
            <a:ext cx="497433" cy="497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0304" y="2103120"/>
            <a:ext cx="2188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B2B2B"/>
                </a:solidFill>
                <a:latin typeface="Arial"/>
              </a:rPr>
              <a:t>Which distribution?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2880360"/>
            <a:ext cx="305714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Arial"/>
              </a:rPr>
              <a:t>Which output distribution suits a condensate count per cell? A droplet size? A partition coefficient?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1737360"/>
            <a:ext cx="3514344" cy="2926080"/>
          </a:xfrm>
          <a:prstGeom prst="roundRect">
            <a:avLst>
              <a:gd name="adj" fmla="val 5000"/>
            </a:avLst>
          </a:prstGeom>
          <a:solidFill>
            <a:srgbClr val="F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54568" y="19202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1f4c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471" y="2060143"/>
            <a:ext cx="497433" cy="497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68968" y="2103120"/>
            <a:ext cx="2188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B2B2B"/>
                </a:solidFill>
                <a:latin typeface="Arial"/>
              </a:rPr>
              <a:t>Is bigger better?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4568" y="2880360"/>
            <a:ext cx="305714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Arial"/>
              </a:rPr>
              <a:t>Double descent says bigger can be better. When is that not true for our assay data?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74920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f4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82" y="5231282"/>
            <a:ext cx="555955" cy="5559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28800" y="5029200"/>
            <a:ext cx="9601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B2B2B"/>
                </a:solidFill>
                <a:latin typeface="Arial"/>
              </a:rPr>
              <a:t>Next time · Chapter 9 (Regularisation):</a:t>
            </a:r>
            <a:r>
              <a:rPr sz="1500" b="0" i="0">
                <a:solidFill>
                  <a:srgbClr val="2B2B2B"/>
                </a:solidFill>
                <a:latin typeface="Arial"/>
              </a:rPr>
              <a:t> why do over-parameterised networks generalise at all?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Arial"/>
              </a:rPr>
              <a:t>Go further: the book's notebooks 3.3, 6.5, 7.2 and 8.3 (udlbook.github.io), and MNIST-1D, the real version of our call dataset.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9855" y="6473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Confidential and Proprietary  |  37</a:t>
            </a:r>
          </a:p>
        </p:txBody>
      </p:sp>
      <p:pic>
        <p:nvPicPr>
          <p:cNvPr id="27" name="Picture 26" descr="tb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28232"/>
            <a:ext cx="108048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1980888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2B2B2B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8759"/>
                </a:solidFill>
                <a:latin typeface="Arial"/>
              </a:rPr>
              <a:t>Deep Learning in the Kalahari · next: chapter 9, regularisation</a:t>
            </a:r>
          </a:p>
        </p:txBody>
      </p:sp>
      <p:pic>
        <p:nvPicPr>
          <p:cNvPr id="6" name="Picture 5" descr="meerkat_pro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2011680"/>
            <a:ext cx="3169919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3A3A3A"/>
                </a:solidFill>
                <a:latin typeface="Arial"/>
              </a:rPr>
              <a:t>Based on Prince, Understanding Deep Learning (MIT Press, 2023; CC-BY-NC-ND). All data synthetic; not Transition Bio data. Emoji art: Twemoji (CC-BY 4.0). Internal training material: Confidential and Proprietary, Transition Bio.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