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One hour, eight chapters, one meerkat mob. The slides set up each puzzle; you solve it in the notebook; then we reveal the answer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scene: the field station has data and no deep-learning person. Explain the rhythm: problem slide, try it in Colab, solution slide. Everything is synthetic so the notebook can check answers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book in four questions. Chapters 1–4: what function? 5: what counts as good? 6–7: how do we find it? 8: does it work on new data?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families. Supervised is most of what we do at TBio (sequence in, property out). Unsupervised and generative: learning structure, designing new sequences. RL: actions, delayed rewards, credit assignment. Ethics closes chapter 1: what we train on shapes what the model believes.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 regression as the template for everything: a model family, a loss, and a search for the best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people 3 minutes. The checker compares their gradient with a finite-difference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gradient points uphill; we step the other way. The notebook then runs gradient descent and shows it zig-zag along the valley (Fig 2.4).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Fig 3.3 recreated: three pre-activations, clipped, weighted, summed. Ten parameters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if people are stuck: a unit switches where its linear function crosses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region is one activation pattern: which units are on and which are clipped.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Strategy hint: find the three bends and how much the slope changes at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neat way to see that a shallow net is a sum of hinges. The same logic with many units gives universal approximation.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plot shows regions per parameter: deeper networks get many more regions for the same parameter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one, 3 minutes. Ask for a show of hands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depth is efficient: exponential regions for polynomial parameters (§4.5).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useful idea in chapter 5: choose a distribution that matches what you measure, have the network predict its parameters, and minimise the negative log-likelihood.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plot: being confidently wrong is very expensive. Right: the fitted 'selfish sentinel' curve. Hint: −log sig[f] = softplus[−f], and np.logaddexp(0, z) is a safe log(1 + eˣ).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'prediction minus truth' gradient appears for softmax with multiclass cross-entropy and for least squares. It's why these pairings train so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Hint: you can subtract the same constant from every score without changing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deep-learning library does this internally (log-sum-exp trick). It's why you pass logits, not probabilities, to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np.mean on these headings gives about 8°, which is due east: the opposite of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Least squares on raw angles would send the mob off due east. Picking the right distribution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plot is Fig 6.5: full-batch gradient descent gets stuck in local minima of the Gabor model; SGD's noise lets it escape.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Equations 6.11 (momentum), 6.12 (Nesterov) and 6.15–6.17 (Adam). For Adam, use t+1 in the bias-correction exponents.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tilde terms are the bias correction: m and v start at zero, so early estimates are too small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L(a, b) = (1 − a)² + 20 (b − a²)², a cousin of the Rosenbrock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moment to ask who got the fewest steps, and with what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pass: compute and cache. Backward pass #1: gradients with respect to the intermediate values. Backward pass #2: gradients with respect to the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minutes. The checker compares with finite differences. Remind people: derivative of sin is cos, of exp is exp, of cos is −sin.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reuse: h2 = exp(f1) was cached in the forward pass, so the derivative of exp costs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Recreates the idea of Fig 7.7: 50 layers of 100 units. Too small fades, too big explodes, He stays flat.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plot measures bias² and variance exactly by refitting on many synthetic datasets (Fig 8.9). Best capacity balances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question, 1 minute. Vote with fingers: 1 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Callback to the binary cross-entropy curves: confidently wrong is very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ReLU features, minimum-norm least squares fit.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tiny 1D problem the second descent recovers but doesn't beat the classical sweet spot. On real problems it often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discussion for the last 5 minutes. Pick one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6.png"/><Relationship Id="rId7" Type="http://schemas.openxmlformats.org/officeDocument/2006/relationships/image" Target="../media/image31.png"/><Relationship Id="rId8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Relationship Id="rId6" Type="http://schemas.openxmlformats.org/officeDocument/2006/relationships/image" Target="../media/image6.png"/><Relationship Id="rId7" Type="http://schemas.openxmlformats.org/officeDocument/2006/relationships/image" Target="../media/image38.png"/><Relationship Id="rId8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5.png"/><Relationship Id="rId10" Type="http://schemas.openxmlformats.org/officeDocument/2006/relationships/image" Target="../media/image49.png"/><Relationship Id="rId11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52.png"/><Relationship Id="rId8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55.png"/><Relationship Id="rId7" Type="http://schemas.openxmlformats.org/officeDocument/2006/relationships/image" Target="../media/image9.png"/><Relationship Id="rId8" Type="http://schemas.openxmlformats.org/officeDocument/2006/relationships/image" Target="../media/image13.png"/><Relationship Id="rId9" Type="http://schemas.openxmlformats.org/officeDocument/2006/relationships/image" Target="../media/image56.png"/><Relationship Id="rId10" Type="http://schemas.openxmlformats.org/officeDocument/2006/relationships/image" Target="../media/image14.png"/><Relationship Id="rId11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57.png"/><Relationship Id="rId8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61.png"/><Relationship Id="rId8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64.png"/><Relationship Id="rId8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Relationship Id="rId4" Type="http://schemas.openxmlformats.org/officeDocument/2006/relationships/image" Target="../media/image29.png"/><Relationship Id="rId5" Type="http://schemas.openxmlformats.org/officeDocument/2006/relationships/image" Target="../media/image74.png"/><Relationship Id="rId6" Type="http://schemas.openxmlformats.org/officeDocument/2006/relationships/image" Target="../media/image6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75.png"/><Relationship Id="rId11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45.png"/><Relationship Id="rId8" Type="http://schemas.openxmlformats.org/officeDocument/2006/relationships/image" Target="../media/image76.png"/><Relationship Id="rId9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77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78.png"/><Relationship Id="rId9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79.png"/><Relationship Id="rId6" Type="http://schemas.openxmlformats.org/officeDocument/2006/relationships/image" Target="../media/image16.png"/><Relationship Id="rId7" Type="http://schemas.openxmlformats.org/officeDocument/2006/relationships/image" Target="../media/image80.png"/><Relationship Id="rId8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81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2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87.png"/><Relationship Id="rId8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88.png"/><Relationship Id="rId8" Type="http://schemas.openxmlformats.org/officeDocument/2006/relationships/image" Target="../media/image57.png"/><Relationship Id="rId9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89.png"/><Relationship Id="rId6" Type="http://schemas.openxmlformats.org/officeDocument/2006/relationships/image" Target="../media/image6.png"/><Relationship Id="rId7" Type="http://schemas.openxmlformats.org/officeDocument/2006/relationships/image" Target="../media/image90.png"/><Relationship Id="rId8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90.png"/><Relationship Id="rId8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1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92.png"/><Relationship Id="rId8" Type="http://schemas.openxmlformats.org/officeDocument/2006/relationships/image" Target="../media/image18.png"/><Relationship Id="rId9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b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1980888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417320"/>
            <a:ext cx="7589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000" b="1" i="0">
                <a:solidFill>
                  <a:srgbClr val="2B2B2B"/>
                </a:solidFill>
                <a:latin typeface="Arial"/>
              </a:rPr>
              <a:t>Deep Learning in the Kalahari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 i="1">
                <a:solidFill>
                  <a:srgbClr val="4A4A4A"/>
                </a:solidFill>
                <a:latin typeface="Arial"/>
              </a:rPr>
              <a:t>Understanding Deep Learning</a:t>
            </a:r>
            <a:r>
              <a:rPr sz="2100" b="0" i="0">
                <a:solidFill>
                  <a:srgbClr val="4A4A4A"/>
                </a:solidFill>
                <a:latin typeface="Arial"/>
              </a:rPr>
              <a:t>, chapters 1–8, in one hands-on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8759"/>
                </a:solidFill>
                <a:latin typeface="Arial"/>
              </a:rPr>
              <a:t>Transition Bio · ML Reading Group</a:t>
            </a:r>
          </a:p>
        </p:txBody>
      </p:sp>
      <p:pic>
        <p:nvPicPr>
          <p:cNvPr id="7" name="Picture 6" descr="meerkat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11680"/>
            <a:ext cx="3169919" cy="3566160"/>
          </a:xfrm>
          <a:prstGeom prst="rect">
            <a:avLst/>
          </a:prstGeom>
        </p:spPr>
      </p:pic>
      <p:pic>
        <p:nvPicPr>
          <p:cNvPr id="8" name="Picture 7" descr="1f4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4572000"/>
            <a:ext cx="502920" cy="502920"/>
          </a:xfrm>
          <a:prstGeom prst="rect">
            <a:avLst/>
          </a:prstGeom>
        </p:spPr>
      </p:pic>
      <p:pic>
        <p:nvPicPr>
          <p:cNvPr id="9" name="Picture 8" descr="1f4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8463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494115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94547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WELCOME TO THE FIELD STATION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You've just joined a meerkat field 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The station studies a wild mob of about thirty meerkats. It has plenty of data and </a:t>
            </a:r>
            <a:r>
              <a:rPr sz="1700" b="1" i="0">
                <a:solidFill>
                  <a:srgbClr val="2B2B2B"/>
                </a:solidFill>
                <a:latin typeface="Arial"/>
              </a:rPr>
              <a:t>no deep-learning expert</a:t>
            </a:r>
            <a:r>
              <a:rPr sz="1700" b="0" i="0">
                <a:solidFill>
                  <a:srgbClr val="2B2B2B"/>
                </a:solidFill>
                <a:latin typeface="Arial"/>
              </a:rPr>
              <a:t>. Guess who that is now.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Arial"/>
              </a:rPr>
              <a:t>Every chapter of the book becomes a problem from the field: weighing pups, decoding alarm calls, finding the way home.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5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" y="3386023"/>
            <a:ext cx="497433" cy="4974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3264408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B2B2B"/>
                </a:solidFill>
                <a:latin typeface="Arial"/>
              </a:rPr>
              <a:t>1 · The problem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A problem slide sets up the field problem in plain words, with the task you'll code.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233672"/>
            <a:ext cx="777240" cy="777240"/>
          </a:xfrm>
          <a:prstGeom prst="ellipse">
            <a:avLst/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f4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" y="4373575"/>
            <a:ext cx="497433" cy="4974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4251959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B2B2B"/>
                </a:solidFill>
                <a:latin typeface="Arial"/>
              </a:rPr>
              <a:t>2 · Your turn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Open the notebook in Colab, fill in the TODO, and run the check cell.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221224"/>
            <a:ext cx="777240" cy="777240"/>
          </a:xfrm>
          <a:prstGeom prst="ellipse">
            <a:avLst/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f5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" y="5361127"/>
            <a:ext cx="497433" cy="4974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8760" y="5239512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B2B2B"/>
                </a:solidFill>
                <a:latin typeface="Arial"/>
              </a:rPr>
              <a:t>3 · The solution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A solution slide explains the answer: first in plain words, then the maths.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691640"/>
            <a:ext cx="4434840" cy="4206240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eerkat_wa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828800"/>
            <a:ext cx="2103120" cy="2366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72600" y="2057400"/>
            <a:ext cx="21031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2B2B"/>
                </a:solidFill>
                <a:latin typeface="Arial"/>
              </a:rPr>
              <a:t>Colab:</a:t>
            </a:r>
            <a:r>
              <a:rPr sz="1400" b="0" i="0">
                <a:solidFill>
                  <a:srgbClr val="2B2B2B"/>
                </a:solidFill>
                <a:latin typeface="Arial"/>
              </a:rPr>
              <a:t> Runtime → Run all, then work top to bottom.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Stuck? Run the solution cell so later parts still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75488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All data are </a:t>
            </a:r>
            <a:r>
              <a:rPr sz="1400" b="1" i="0">
                <a:solidFill>
                  <a:srgbClr val="2B2B2B"/>
                </a:solidFill>
                <a:latin typeface="Arial"/>
              </a:rPr>
              <a:t>synthetic</a:t>
            </a:r>
            <a:r>
              <a:rPr sz="1400" b="0" i="0">
                <a:solidFill>
                  <a:srgbClr val="2B2B2B"/>
                </a:solidFill>
                <a:latin typeface="Arial"/>
              </a:rPr>
              <a:t>, generated in the notebook, so every answer can be checked automatically.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</a:t>
            </a:r>
          </a:p>
        </p:txBody>
      </p:sp>
      <p:pic>
        <p:nvPicPr>
          <p:cNvPr id="21" name="Picture 20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904999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13563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THE ROADMAP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Four questions, eight chapters, twelve puzzles</a:t>
            </a:r>
          </a:p>
        </p:txBody>
      </p:sp>
      <p:pic>
        <p:nvPicPr>
          <p:cNvPr id="6" name="Picture 5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783080"/>
            <a:ext cx="2601468" cy="4343400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1442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8759"/>
                </a:solidFill>
                <a:latin typeface="Arial"/>
              </a:rPr>
              <a:t>Ch 1–4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21442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B2B2B"/>
                </a:solidFill>
                <a:latin typeface="Arial"/>
              </a:rPr>
              <a:t>What function?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1442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Arial"/>
              </a:rPr>
              <a:t>Models: lines, clipped lines, folded space</a:t>
            </a:r>
          </a:p>
        </p:txBody>
      </p:sp>
      <p:pic>
        <p:nvPicPr>
          <p:cNvPr id="11" name="Picture 10" descr="1f3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86200"/>
            <a:ext cx="640080" cy="640080"/>
          </a:xfrm>
          <a:prstGeom prst="rect">
            <a:avLst/>
          </a:prstGeom>
        </p:spPr>
      </p:pic>
      <p:pic>
        <p:nvPicPr>
          <p:cNvPr id="12" name="Picture 11" descr="26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886200"/>
            <a:ext cx="640080" cy="640080"/>
          </a:xfrm>
          <a:prstGeom prst="rect">
            <a:avLst/>
          </a:prstGeom>
        </p:spPr>
      </p:pic>
      <p:pic>
        <p:nvPicPr>
          <p:cNvPr id="13" name="Picture 12" descr="1f3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720" y="3886200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46320"/>
            <a:ext cx="21442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B6B6B"/>
                </a:solidFill>
                <a:latin typeface="Arial"/>
              </a:rPr>
              <a:t>Puzzles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21442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8759"/>
                </a:solidFill>
                <a:latin typeface="Arial"/>
              </a:rPr>
              <a:t>2.1 · 3.1 · C3 · 4.1</a:t>
            </a:r>
          </a:p>
        </p:txBody>
      </p:sp>
      <p:sp>
        <p:nvSpPr>
          <p:cNvPr id="16" name="Chevron 15"/>
          <p:cNvSpPr/>
          <p:nvPr/>
        </p:nvSpPr>
        <p:spPr>
          <a:xfrm>
            <a:off x="3186684" y="3840480"/>
            <a:ext cx="155448" cy="365760"/>
          </a:xfrm>
          <a:prstGeom prst="chevron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78708" y="1783080"/>
            <a:ext cx="2601468" cy="4343400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7308" y="1965960"/>
            <a:ext cx="21442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366AB"/>
                </a:solidFill>
                <a:latin typeface="Arial"/>
              </a:rPr>
              <a:t>Ch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7308" y="2286000"/>
            <a:ext cx="21442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B2B2B"/>
                </a:solidFill>
                <a:latin typeface="Arial"/>
              </a:rPr>
              <a:t>What is good?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7308" y="3017520"/>
            <a:ext cx="21442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Arial"/>
              </a:rPr>
              <a:t>Loss functions from probability</a:t>
            </a:r>
          </a:p>
        </p:txBody>
      </p:sp>
      <p:pic>
        <p:nvPicPr>
          <p:cNvPr id="21" name="Picture 20" descr="1f52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7308" y="3886200"/>
            <a:ext cx="640080" cy="640080"/>
          </a:xfrm>
          <a:prstGeom prst="rect">
            <a:avLst/>
          </a:prstGeom>
        </p:spPr>
      </p:pic>
      <p:pic>
        <p:nvPicPr>
          <p:cNvPr id="22" name="Picture 21" descr="1f98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4548" y="3886200"/>
            <a:ext cx="640080" cy="640080"/>
          </a:xfrm>
          <a:prstGeom prst="rect">
            <a:avLst/>
          </a:prstGeom>
        </p:spPr>
      </p:pic>
      <p:pic>
        <p:nvPicPr>
          <p:cNvPr id="23" name="Picture 22" descr="1f9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1788" y="3886200"/>
            <a:ext cx="640080" cy="640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07308" y="4846320"/>
            <a:ext cx="21442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B6B6B"/>
                </a:solidFill>
                <a:latin typeface="Arial"/>
              </a:rPr>
              <a:t>Puzzles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7308" y="5120640"/>
            <a:ext cx="21442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66AB"/>
                </a:solidFill>
                <a:latin typeface="Arial"/>
              </a:rPr>
              <a:t>5.3 · 5.4 · 5.6</a:t>
            </a:r>
          </a:p>
        </p:txBody>
      </p:sp>
      <p:sp>
        <p:nvSpPr>
          <p:cNvPr id="26" name="Chevron 25"/>
          <p:cNvSpPr/>
          <p:nvPr/>
        </p:nvSpPr>
        <p:spPr>
          <a:xfrm>
            <a:off x="6016752" y="3840480"/>
            <a:ext cx="155448" cy="365760"/>
          </a:xfrm>
          <a:prstGeom prst="chevron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08776" y="1783080"/>
            <a:ext cx="2601468" cy="4343400"/>
          </a:xfrm>
          <a:prstGeom prst="roundRect">
            <a:avLst>
              <a:gd name="adj" fmla="val 5000"/>
            </a:avLst>
          </a:prstGeom>
          <a:solidFill>
            <a:srgbClr val="EF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1965960"/>
            <a:ext cx="21442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F64B7"/>
                </a:solidFill>
                <a:latin typeface="Arial"/>
              </a:rPr>
              <a:t>Ch 6–7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2286000"/>
            <a:ext cx="21442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B2B2B"/>
                </a:solidFill>
                <a:latin typeface="Arial"/>
              </a:rPr>
              <a:t>How to find it?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3017520"/>
            <a:ext cx="21442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Arial"/>
              </a:rPr>
              <a:t>Optimisers, backprop, initialisation</a:t>
            </a:r>
          </a:p>
        </p:txBody>
      </p:sp>
      <p:pic>
        <p:nvPicPr>
          <p:cNvPr id="31" name="Picture 30" descr="1f3c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7376" y="3886200"/>
            <a:ext cx="640080" cy="640080"/>
          </a:xfrm>
          <a:prstGeom prst="rect">
            <a:avLst/>
          </a:prstGeom>
        </p:spPr>
      </p:pic>
      <p:pic>
        <p:nvPicPr>
          <p:cNvPr id="32" name="Picture 31" descr="1f4e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4616" y="3886200"/>
            <a:ext cx="640080" cy="640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37376" y="4846320"/>
            <a:ext cx="21442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B6B6B"/>
                </a:solidFill>
                <a:latin typeface="Arial"/>
              </a:rPr>
              <a:t>Puzzles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5120640"/>
            <a:ext cx="21442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F64B7"/>
                </a:solidFill>
                <a:latin typeface="Arial"/>
              </a:rPr>
              <a:t>6.4 · C6 · 7.1</a:t>
            </a:r>
          </a:p>
        </p:txBody>
      </p:sp>
      <p:sp>
        <p:nvSpPr>
          <p:cNvPr id="35" name="Chevron 34"/>
          <p:cNvSpPr/>
          <p:nvPr/>
        </p:nvSpPr>
        <p:spPr>
          <a:xfrm>
            <a:off x="8846819" y="3840480"/>
            <a:ext cx="155448" cy="365760"/>
          </a:xfrm>
          <a:prstGeom prst="chevron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38844" y="1783080"/>
            <a:ext cx="2601468" cy="4343400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67444" y="1965960"/>
            <a:ext cx="21442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F8E00"/>
                </a:solidFill>
                <a:latin typeface="Arial"/>
              </a:rPr>
              <a:t>Ch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7444" y="2286000"/>
            <a:ext cx="21442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B2B2B"/>
                </a:solidFill>
                <a:latin typeface="Arial"/>
              </a:rPr>
              <a:t>Does it generalise?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7444" y="3017520"/>
            <a:ext cx="21442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Arial"/>
              </a:rPr>
              <a:t>Bias, variance, double descent</a:t>
            </a:r>
          </a:p>
        </p:txBody>
      </p:sp>
      <p:pic>
        <p:nvPicPr>
          <p:cNvPr id="40" name="Picture 39" descr="1f39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67444" y="3886200"/>
            <a:ext cx="640080" cy="6400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267444" y="4846320"/>
            <a:ext cx="21442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B6B6B"/>
                </a:solidFill>
                <a:latin typeface="Arial"/>
              </a:rPr>
              <a:t>Puzzles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7444" y="5120640"/>
            <a:ext cx="21442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F8E00"/>
                </a:solidFill>
                <a:latin typeface="Arial"/>
              </a:rPr>
              <a:t>8.1 · 8.4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3</a:t>
            </a:r>
          </a:p>
        </p:txBody>
      </p:sp>
      <p:pic>
        <p:nvPicPr>
          <p:cNvPr id="44" name="Picture 43" descr="tb_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025140" cy="365760"/>
          </a:xfrm>
          <a:prstGeom prst="roundRect">
            <a:avLst>
              <a:gd name="adj" fmla="val 50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4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765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CHAPTER 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Three ways a machine can learn</a:t>
            </a:r>
          </a:p>
        </p:txBody>
      </p:sp>
      <p:pic>
        <p:nvPicPr>
          <p:cNvPr id="6" name="Picture 5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3514344" cy="3931920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74519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5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" y="2014423"/>
            <a:ext cx="497433" cy="4974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1640" y="2057400"/>
            <a:ext cx="2234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08759"/>
                </a:solidFill>
                <a:latin typeface="Arial"/>
              </a:rPr>
              <a:t>Supervised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057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404040"/>
                </a:solidFill>
                <a:latin typeface="Arial"/>
              </a:rPr>
              <a:t>Learn x → y from labelled pairs.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05714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Regression: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 number (pup mass)</a:t>
            </a:r>
          </a:p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Classification: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 category (which predator)</a:t>
            </a:r>
          </a:p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At TBio: sequence → does it form condensates?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691640"/>
            <a:ext cx="3514344" cy="3931920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5904" y="1874519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f9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807" y="2014423"/>
            <a:ext cx="497433" cy="49743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0304" y="2057400"/>
            <a:ext cx="2234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366AB"/>
                </a:solidFill>
                <a:latin typeface="Arial"/>
              </a:rPr>
              <a:t>Unsupervised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5904" y="2788920"/>
            <a:ext cx="3057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404040"/>
                </a:solidFill>
                <a:latin typeface="Arial"/>
              </a:rPr>
              <a:t>Learn from x alone, no labels.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5904" y="3246120"/>
            <a:ext cx="305714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Generative models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make new examples</a:t>
            </a:r>
          </a:p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Latent variables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z: simple hidden causes</a:t>
            </a:r>
          </a:p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At TBio: propose new sequences that look natural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5968" y="1691640"/>
            <a:ext cx="3514344" cy="3931920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54568" y="1874519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f3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471" y="2014423"/>
            <a:ext cx="497433" cy="49743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68968" y="2057400"/>
            <a:ext cx="2234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EF8E00"/>
                </a:solidFill>
                <a:latin typeface="Arial"/>
              </a:rPr>
              <a:t>Reinforcement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4568" y="2788920"/>
            <a:ext cx="3057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404040"/>
                </a:solidFill>
                <a:latin typeface="Arial"/>
              </a:rPr>
              <a:t>Act, change the state, get rewards.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4568" y="3246120"/>
            <a:ext cx="305714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Rewards arrive late: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credit assignment</a:t>
            </a:r>
          </a:p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Which past action earned the reward?</a:t>
            </a:r>
          </a:p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Like: which of 20 protocol steps made it work?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1f44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824728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5760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2B2B"/>
                </a:solidFill>
                <a:latin typeface="Arial"/>
              </a:rPr>
              <a:t>Ethics (§1.3):</a:t>
            </a:r>
            <a:r>
              <a:rPr sz="1400" b="0" i="0">
                <a:solidFill>
                  <a:srgbClr val="2B2B2B"/>
                </a:solidFill>
                <a:latin typeface="Arial"/>
              </a:rPr>
              <a:t> bias, explainability and environmental cost matter here too. What data we train on shapes what the model believes.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4</a:t>
            </a:r>
          </a:p>
        </p:txBody>
      </p:sp>
      <p:pic>
        <p:nvPicPr>
          <p:cNvPr id="29" name="Picture 28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735853" cy="365760"/>
          </a:xfrm>
          <a:prstGeom prst="roundRect">
            <a:avLst>
              <a:gd name="adj" fmla="val 50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3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318721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CHAPTER 2 · SUPERVISED LEARNING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The Great Pup Weigh-in: fitting a line</a:t>
            </a:r>
          </a:p>
        </p:txBody>
      </p:sp>
      <p:pic>
        <p:nvPicPr>
          <p:cNvPr id="6" name="Picture 5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386012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73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Every morning the station weighs the pups (a boiled egg keeps them on the scale). Predict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mass gained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from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hours foraging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yesterday.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model is a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family of lines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Two knobs, intercept and slope, pick one line.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loss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adds up the squared misses.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Training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turns the knobs until the loss is smallest.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06252"/>
            <a:ext cx="5745175" cy="1962912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70844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489132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993d71e6b2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818316"/>
            <a:ext cx="2868168" cy="338328"/>
          </a:xfrm>
          <a:prstGeom prst="rect">
            <a:avLst/>
          </a:prstGeom>
        </p:spPr>
      </p:pic>
      <p:pic>
        <p:nvPicPr>
          <p:cNvPr id="15" name="Picture 14" descr="860eb063ea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229796"/>
            <a:ext cx="3569208" cy="829056"/>
          </a:xfrm>
          <a:prstGeom prst="rect">
            <a:avLst/>
          </a:prstGeom>
        </p:spPr>
      </p:pic>
      <p:pic>
        <p:nvPicPr>
          <p:cNvPr id="16" name="Picture 15" descr="p21_weigh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3855" y="1691640"/>
            <a:ext cx="5029200" cy="37932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5</a:t>
            </a:r>
          </a:p>
        </p:txBody>
      </p:sp>
      <p:pic>
        <p:nvPicPr>
          <p:cNvPr id="18" name="Picture 17" descr="tb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2.1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Which way is downhill?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878901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3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229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Every combination of the two knobs gives a line, and every line has a loss. Together they form a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landscape</a:t>
            </a:r>
            <a:r>
              <a:rPr sz="1450" b="0" i="0">
                <a:solidFill>
                  <a:srgbClr val="2B2B2B"/>
                </a:solidFill>
                <a:latin typeface="Arial"/>
              </a:rPr>
              <a:t>: position = knob settings, height = how badly the line misses the pups.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You're standing at φ = [0, 3] in thick fog. Which direction takes you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downhill fastest</a:t>
            </a:r>
            <a:r>
              <a:rPr sz="1450" b="0" i="0">
                <a:solidFill>
                  <a:srgbClr val="2B2B2B"/>
                </a:solidFill>
                <a:latin typeface="Arial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9141"/>
            <a:ext cx="5745175" cy="2106866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63733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982021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11205"/>
            <a:ext cx="5379415" cy="798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Differentiate the loss with respect to each knob. Write rᵢ = φ₀ + φ₁xᵢ − yᵢ for each pup's miss.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Then implement: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09972"/>
            <a:ext cx="5379415" cy="585724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01412"/>
            <a:ext cx="5105095" cy="402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grad_ls(phi0, phi1, x, y):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    return dL_dphi0, dL_dphi1</a:t>
            </a:r>
          </a:p>
        </p:txBody>
      </p:sp>
      <p:pic>
        <p:nvPicPr>
          <p:cNvPr id="17" name="Picture 16" descr="p21_landsca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855" y="1691640"/>
            <a:ext cx="5029200" cy="38131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6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2.1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Every pup tugs the line by its miss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170557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521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Each pup pulls on the line. 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intercept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feels the total of all the misses: if the line sits too high on average, lower it.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slope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feels each miss weighted by that pup's foraging hours. Pups far out on the x-axis have more leverage, like a longer lever arm.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Step against the tug, then repeat: that's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gradient descent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90797"/>
            <a:ext cx="5745175" cy="20091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55389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273677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4402f41b11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602861"/>
            <a:ext cx="3483864" cy="6278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5303901"/>
            <a:ext cx="5379415" cy="585724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95341"/>
            <a:ext cx="5105095" cy="402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r = phi0 + phi1 * x - 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return 2 * np.sum(r), 2 * np.sum(r * x)</a:t>
            </a:r>
          </a:p>
        </p:txBody>
      </p:sp>
      <p:pic>
        <p:nvPicPr>
          <p:cNvPr id="17" name="Picture 16" descr="s21_landsca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855" y="1691640"/>
            <a:ext cx="5029200" cy="38131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7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4345263" cy="365760"/>
          </a:xfrm>
          <a:prstGeom prst="roundRect">
            <a:avLst>
              <a:gd name="adj" fmla="val 50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6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37966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CHAPTER 3 · SHALLOW NEURAL NETWORKS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Neural networks are sums of clipped lines</a:t>
            </a:r>
          </a:p>
        </p:txBody>
      </p:sp>
      <p:pic>
        <p:nvPicPr>
          <p:cNvPr id="6" name="Picture 5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094357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445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Each hidden unit is a straight line with its negative part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clipped to zero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(a ReLU). Think of a dose–response with a threshold: nothing happens until the input passes it.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Scale each clipped line and add them up, and you get a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bendy line with joints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Enough units can draw any shape: the universal approximation theorem.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14597"/>
            <a:ext cx="5745175" cy="1976628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79189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197477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4dd7f82fb5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26661"/>
            <a:ext cx="4102607" cy="76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361813"/>
            <a:ext cx="5379415" cy="492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Three stages: linear functions → clip at zero → weighted sum. </a:t>
            </a:r>
            <a:r>
              <a:rPr sz="1400" b="1" i="0">
                <a:solidFill>
                  <a:srgbClr val="2B2B2B"/>
                </a:solidFill>
                <a:latin typeface="Arial"/>
              </a:rPr>
              <a:t>D units give at most D+1 linear regions.</a:t>
            </a:r>
          </a:p>
        </p:txBody>
      </p:sp>
      <p:pic>
        <p:nvPicPr>
          <p:cNvPr id="16" name="Picture 15" descr="c014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855" y="1691640"/>
            <a:ext cx="5029200" cy="27568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8</a:t>
            </a:r>
          </a:p>
        </p:txBody>
      </p:sp>
      <p:pic>
        <p:nvPicPr>
          <p:cNvPr id="18" name="Picture 17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3.1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Where are the joints? What are the slopes?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663446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book's 3-unit network turns ten numbers into the bent line on the right.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Before running anything: could you predict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where it bends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and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how steep each piece is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, just from the ten numbers?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5745175" cy="1815211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5750"/>
            <a:ext cx="5379415" cy="507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Implement two functions.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region_slopes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returns the slopes left to right: four values for three joints.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02861"/>
            <a:ext cx="5379415" cy="585724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94301"/>
            <a:ext cx="5105095" cy="402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joints(theta):         # sorted x of each bend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region_slopes(phi, theta):</a:t>
            </a:r>
          </a:p>
        </p:txBody>
      </p:sp>
      <p:pic>
        <p:nvPicPr>
          <p:cNvPr id="17" name="Picture 16" descr="p31_joi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855" y="1691640"/>
            <a:ext cx="5029200" cy="336342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9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3.1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A joint is where one unit switches on or off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663446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Each unit is a switch with a threshold, like a receptor that only fires above a ligand concentration. The curve bends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exactly where a unit switches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Between bends, the slope is 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sum of the units that are on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5745175" cy="2638425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441c4d91f4d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095750"/>
            <a:ext cx="2414016" cy="368808"/>
          </a:xfrm>
          <a:prstGeom prst="rect">
            <a:avLst/>
          </a:prstGeom>
        </p:spPr>
      </p:pic>
      <p:pic>
        <p:nvPicPr>
          <p:cNvPr id="15" name="Picture 14" descr="e1ccddc0313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537710"/>
            <a:ext cx="2688336" cy="63703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247894"/>
            <a:ext cx="5379415" cy="763905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39334"/>
            <a:ext cx="5105095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j = np.sort(-theta[:, 0] / theta[:, 1])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on = theta[:, 0] + theta[:, 1] * x_mid &gt; 0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slope = np.sum(phi[1:][on] * theta[on, 1])</a:t>
            </a:r>
          </a:p>
        </p:txBody>
      </p:sp>
      <p:pic>
        <p:nvPicPr>
          <p:cNvPr id="18" name="Picture 17" descr="s31_join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3855" y="1691640"/>
            <a:ext cx="5029200" cy="335810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10</a:t>
            </a:r>
          </a:p>
        </p:txBody>
      </p:sp>
      <p:pic>
        <p:nvPicPr>
          <p:cNvPr id="20" name="Picture 19" descr="tb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190494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3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64185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CHALLENGE 3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Dig the burrow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663446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6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mob's main burrow has a known cross-section: flat, down, up, flat.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Hand-pick 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ten parameters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of a 3-unit network so that it traces the burrow exactly on x ∈ [0, 1].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5745175" cy="2212657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5750"/>
            <a:ext cx="5379415" cy="291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Set my_phi and my_theta in the notebook.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7405"/>
            <a:ext cx="5379415" cy="787146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78845"/>
            <a:ext cx="5105095" cy="604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my_phi   = [phi0, phi1, phi2, phi3]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my_theta = [[th10, th11], [th20, th21],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            [th30, th31]]</a:t>
            </a:r>
          </a:p>
        </p:txBody>
      </p:sp>
      <p:pic>
        <p:nvPicPr>
          <p:cNvPr id="17" name="Picture 16" descr="1f94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47703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5265991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MSE &lt; 0.01</a:t>
            </a:r>
          </a:p>
        </p:txBody>
      </p:sp>
      <p:pic>
        <p:nvPicPr>
          <p:cNvPr id="19" name="Picture 18" descr="1f94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4618" y="5247703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88666" y="5265991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&lt; 0.001</a:t>
            </a:r>
          </a:p>
        </p:txBody>
      </p:sp>
      <p:pic>
        <p:nvPicPr>
          <p:cNvPr id="21" name="Picture 20" descr="1f94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9736" y="5247703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3784" y="5265991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exact</a:t>
            </a:r>
          </a:p>
        </p:txBody>
      </p:sp>
      <p:pic>
        <p:nvPicPr>
          <p:cNvPr id="23" name="Picture 22" descr="c028_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3855" y="1691640"/>
            <a:ext cx="5029200" cy="254028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11</a:t>
            </a:r>
          </a:p>
        </p:txBody>
      </p:sp>
      <p:pic>
        <p:nvPicPr>
          <p:cNvPr id="25" name="Picture 24" descr="tb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218497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66985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CHALLENGE 3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One hinge at each bend, sized by the change in slope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246757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597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Walk along the burrow from the left:</a:t>
            </a:r>
          </a:p>
          <a:p>
            <a:pPr algn="l" marL="201168" indent="-182880">
              <a:spcAft>
                <a:spcPts val="3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At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0.2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slope goes 0 → −2: add a hinge of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−2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 marL="201168" indent="-182880">
              <a:spcAft>
                <a:spcPts val="3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At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0.5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it goes −2 → +3: a change of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+5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 marL="201168" indent="-182880">
              <a:spcAft>
                <a:spcPts val="6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At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0.7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it goes +3 → 0: a change of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−3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Each unit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φ ReLU[x − c]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is flat until c, then rises with slope φ. Three bends, three units.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6997"/>
            <a:ext cx="5745175" cy="1877568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331589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349877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a0ea272cd0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679061"/>
            <a:ext cx="2877312" cy="338328"/>
          </a:xfrm>
          <a:prstGeom prst="rect">
            <a:avLst/>
          </a:prstGeom>
        </p:spPr>
      </p:pic>
      <p:pic>
        <p:nvPicPr>
          <p:cNvPr id="15" name="Picture 14" descr="1a922e25352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090541"/>
            <a:ext cx="4504944" cy="332232"/>
          </a:xfrm>
          <a:prstGeom prst="rect">
            <a:avLst/>
          </a:prstGeom>
        </p:spPr>
      </p:pic>
      <p:pic>
        <p:nvPicPr>
          <p:cNvPr id="16" name="Picture 15" descr="1f94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495925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5568" y="5514213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MSE = 0: gold</a:t>
            </a:r>
          </a:p>
        </p:txBody>
      </p:sp>
      <p:pic>
        <p:nvPicPr>
          <p:cNvPr id="18" name="Picture 17" descr="sC3_hing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3749" y="1691640"/>
            <a:ext cx="2969410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12</a:t>
            </a:r>
          </a:p>
        </p:txBody>
      </p:sp>
      <p:pic>
        <p:nvPicPr>
          <p:cNvPr id="20" name="Picture 19" descr="tb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957173" cy="365760"/>
          </a:xfrm>
          <a:prstGeom prst="roundRect">
            <a:avLst>
              <a:gd name="adj" fmla="val 50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3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340853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CHAPTER 4 · DEEP NEURAL NETWORKS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Deep networks fold space</a:t>
            </a:r>
          </a:p>
        </p:txBody>
      </p:sp>
      <p:pic>
        <p:nvPicPr>
          <p:cNvPr id="6" name="Picture 5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878901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229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Feed one network's output into another. The first network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folds the input like paper</a:t>
            </a:r>
            <a:r>
              <a:rPr sz="1450" b="0" i="0">
                <a:solidFill>
                  <a:srgbClr val="2B2B2B"/>
                </a:solidFill>
                <a:latin typeface="Arial"/>
              </a:rPr>
              <a:t>: several inputs land on the same point.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Whatever the second network draws is then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copied onto every fold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Depth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multiplies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number of regions; width only adds to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9141"/>
            <a:ext cx="5745175" cy="1843913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63733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982021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b4c227b2f8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11205"/>
            <a:ext cx="4943856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4689157"/>
            <a:ext cx="5379415" cy="816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Max linear regions, D units per layer:</a:t>
            </a:r>
          </a:p>
          <a:p>
            <a:pPr algn="l" marL="201168" indent="-182880">
              <a:spcAft>
                <a:spcPts val="2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Shallow: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D + 1</a:t>
            </a:r>
          </a:p>
          <a:p>
            <a:pPr algn="l" marL="201168" indent="-182880">
              <a:spcAft>
                <a:spcPts val="6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K layers: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(D + 1)ᴷ, with far fewer parameters per region</a:t>
            </a:r>
          </a:p>
        </p:txBody>
      </p:sp>
      <p:pic>
        <p:nvPicPr>
          <p:cNvPr id="16" name="Picture 15" descr="c040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855" y="1691640"/>
            <a:ext cx="5029200" cy="37093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13</a:t>
            </a:r>
          </a:p>
        </p:txBody>
      </p:sp>
      <p:pic>
        <p:nvPicPr>
          <p:cNvPr id="18" name="Picture 17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4.1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Predict the folds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663446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3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Net 1 zig-zags across [−1, 1] in three pieces: up, down, up. Net 2 has three linear regions on [−1, 1].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Now chain them: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net2(net1(x))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How many linear regions does the result have on [−1, 1]?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5745175" cy="1398333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5750"/>
            <a:ext cx="5379415" cy="291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Write down your prediction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before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you run the cell that plots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7405"/>
            <a:ext cx="5379415" cy="384302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78845"/>
            <a:ext cx="5105095" cy="201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my_prediction = ?</a:t>
            </a:r>
          </a:p>
        </p:txBody>
      </p:sp>
      <p:pic>
        <p:nvPicPr>
          <p:cNvPr id="17" name="Picture 16" descr="c033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4152" y="1691640"/>
            <a:ext cx="1948604" cy="457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14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4.1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Nine regions: three folds × three pieces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663446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Net 1 sweeps across the whole range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three times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On each sweep, the input passes through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all three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of net 2's regions.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So net 2's shape is replayed three times (mirrored on the downward sweep):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3 × 3 = 9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5745175" cy="1717574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5750"/>
            <a:ext cx="5379415" cy="284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Composition multiplies region counts. With K layers of D units:</a:t>
            </a:r>
          </a:p>
        </p:txBody>
      </p:sp>
      <p:pic>
        <p:nvPicPr>
          <p:cNvPr id="15" name="Picture 14" descr="1136b78b08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79976"/>
            <a:ext cx="5379415" cy="25351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4706646"/>
            <a:ext cx="5379415" cy="384302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98086"/>
            <a:ext cx="5105095" cy="201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my_prediction = 9</a:t>
            </a:r>
          </a:p>
        </p:txBody>
      </p:sp>
      <p:pic>
        <p:nvPicPr>
          <p:cNvPr id="18" name="Picture 17" descr="s41_compo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855" y="1691640"/>
            <a:ext cx="5029200" cy="35579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15</a:t>
            </a:r>
          </a:p>
        </p:txBody>
      </p:sp>
      <p:pic>
        <p:nvPicPr>
          <p:cNvPr id="20" name="Picture 19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218497" cy="365760"/>
          </a:xfrm>
          <a:prstGeom prst="roundRect">
            <a:avLst>
              <a:gd name="adj" fmla="val 50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66985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CHAPTER 5 · LOSS FUNCTIONS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One recipe for every loss function</a:t>
            </a:r>
          </a:p>
        </p:txBody>
      </p:sp>
      <p:pic>
        <p:nvPicPr>
          <p:cNvPr id="6" name="Picture 5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4206240" cy="3452431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3840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3840479" cy="220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Don't predict the answer. Predict a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probability distribution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over answers, then pick the knobs that make the observed data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most likely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1.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Choose a distribution that fits what you measure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2.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network predicts its parameters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3.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Minimise the negative log-likelihood</a:t>
            </a:r>
          </a:p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4.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Predict with the distribution's peak</a:t>
            </a:r>
          </a:p>
        </p:txBody>
      </p:sp>
      <p:pic>
        <p:nvPicPr>
          <p:cNvPr id="11" name="Picture 10" descr="c8f0efa65d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09503"/>
            <a:ext cx="3621024" cy="524256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74920" y="1737360"/>
          <a:ext cx="65379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51560"/>
                <a:gridCol w="1143000"/>
                <a:gridCol w="1188720"/>
                <a:gridCol w="1371600"/>
                <a:gridCol w="1234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54864" marR="54864">
                    <a:solidFill>
                      <a:srgbClr val="0087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You measure</a:t>
                      </a:r>
                    </a:p>
                  </a:txBody>
                  <a:tcPr anchor="ctr" marL="54864" marR="54864">
                    <a:solidFill>
                      <a:srgbClr val="0087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Distribution</a:t>
                      </a:r>
                    </a:p>
                  </a:txBody>
                  <a:tcPr anchor="ctr" marL="54864" marR="54864">
                    <a:solidFill>
                      <a:srgbClr val="0087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Final activation</a:t>
                      </a:r>
                    </a:p>
                  </a:txBody>
                  <a:tcPr anchor="ctr" marL="54864" marR="54864">
                    <a:solidFill>
                      <a:srgbClr val="0087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Loss</a:t>
                      </a:r>
                    </a:p>
                  </a:txBody>
                  <a:tcPr anchor="ctr" marL="54864" marR="54864">
                    <a:solidFill>
                      <a:srgbClr val="0087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Meerkat example</a:t>
                      </a:r>
                    </a:p>
                  </a:txBody>
                  <a:tcPr anchor="ctr" marL="54864" marR="54864">
                    <a:solidFill>
                      <a:srgbClr val="00875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Arial"/>
                        </a:rPr>
                        <a:t>A number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Normal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least squares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pup mass gain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Arial"/>
                        </a:rPr>
                        <a:t>Yes / no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Bernoulli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sigmoid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binary cross-entropy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sentinel duty?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Arial"/>
                        </a:rPr>
                        <a:t>One of K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Categorical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softmax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cross-entropy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eagle, jackal or cobra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Arial"/>
                        </a:rPr>
                        <a:t>A count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Poisson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exp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Poisson NLL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scorpions per hour</a:t>
                      </a:r>
                    </a:p>
                  </a:txBody>
                  <a:tcPr anchor="ctr" marL="54864" marR="54864">
                    <a:solidFill>
                      <a:srgbClr val="E5F3E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Arial"/>
                        </a:rPr>
                        <a:t>An angle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von Mises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−κ cos(y − μ)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heading home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1f3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59" y="2322576"/>
            <a:ext cx="429768" cy="429768"/>
          </a:xfrm>
          <a:prstGeom prst="rect">
            <a:avLst/>
          </a:prstGeom>
        </p:spPr>
      </p:pic>
      <p:pic>
        <p:nvPicPr>
          <p:cNvPr id="14" name="Picture 13" descr="1f5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59" y="3008376"/>
            <a:ext cx="429768" cy="429768"/>
          </a:xfrm>
          <a:prstGeom prst="rect">
            <a:avLst/>
          </a:prstGeom>
        </p:spPr>
      </p:pic>
      <p:pic>
        <p:nvPicPr>
          <p:cNvPr id="15" name="Picture 14" descr="1f98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59" y="3694176"/>
            <a:ext cx="429768" cy="429768"/>
          </a:xfrm>
          <a:prstGeom prst="rect">
            <a:avLst/>
          </a:prstGeom>
        </p:spPr>
      </p:pic>
      <p:pic>
        <p:nvPicPr>
          <p:cNvPr id="16" name="Picture 15" descr="1f98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59" y="4379976"/>
            <a:ext cx="429768" cy="429768"/>
          </a:xfrm>
          <a:prstGeom prst="rect">
            <a:avLst/>
          </a:prstGeom>
        </p:spPr>
      </p:pic>
      <p:pic>
        <p:nvPicPr>
          <p:cNvPr id="17" name="Picture 16" descr="1f9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6359" y="5065776"/>
            <a:ext cx="429768" cy="429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74920" y="5760720"/>
            <a:ext cx="6537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Arial"/>
              </a:rPr>
              <a:t>Least squares isn't an arbitrary choice: it </a:t>
            </a:r>
            <a:r>
              <a:rPr sz="1400" b="1" i="0">
                <a:solidFill>
                  <a:srgbClr val="404040"/>
                </a:solidFill>
                <a:latin typeface="Arial"/>
              </a:rPr>
              <a:t>is</a:t>
            </a:r>
            <a:r>
              <a:rPr sz="1400" b="0" i="0">
                <a:solidFill>
                  <a:srgbClr val="404040"/>
                </a:solidFill>
                <a:latin typeface="Arial"/>
              </a:rPr>
              <a:t> maximum likelihood under Gaussian 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16</a:t>
            </a:r>
          </a:p>
        </p:txBody>
      </p:sp>
      <p:pic>
        <p:nvPicPr>
          <p:cNvPr id="20" name="Picture 19" descr="tb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5.3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Will this meerkat go on sentinel duty?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878901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5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229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Meerkats tend to stand guard once they've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eaten well</a:t>
            </a:r>
            <a:r>
              <a:rPr sz="1450" b="0" i="0">
                <a:solidFill>
                  <a:srgbClr val="2B2B2B"/>
                </a:solidFill>
                <a:latin typeface="Arial"/>
              </a:rPr>
              <a:t>: a full stomach makes guarding cheap.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From grams eaten in the last hour, the network outputs a score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f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The sigmoid turns it into a probability of going on guard.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9141"/>
            <a:ext cx="5745175" cy="2030666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63733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982021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11205"/>
            <a:ext cx="5379415" cy="72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Show that the gradient of the loss with respect to f is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sig[f] − y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Then write a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numerically stable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loss: no log(0) when |f| is large.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33772"/>
            <a:ext cx="5379415" cy="585724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5212"/>
            <a:ext cx="5105095" cy="402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bce_from_logits(f, y):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bce_grad_logits(f, y):</a:t>
            </a:r>
          </a:p>
        </p:txBody>
      </p:sp>
      <p:pic>
        <p:nvPicPr>
          <p:cNvPr id="17" name="Picture 16" descr="c052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516" y="1691640"/>
            <a:ext cx="3433877" cy="457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17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5.3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The gradient is prediction minus truth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653735" cy="1777746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287975" cy="1128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correction is simply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how surprised the model was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 marL="201168" indent="-182880">
              <a:spcAft>
                <a:spcPts val="3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Said 90% guard, the meerkat didn't: push down by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0.9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 marL="201168" indent="-182880">
              <a:spcAft>
                <a:spcPts val="600"/>
              </a:spcAft>
              <a:buClr>
                <a:srgbClr val="008759"/>
              </a:buClr>
              <a:buFont typeface="Arial"/>
              <a:buChar char="•"/>
            </a:pPr>
            <a:r>
              <a:rPr sz="1450" b="0" i="0">
                <a:solidFill>
                  <a:srgbClr val="2B2B2B"/>
                </a:solidFill>
                <a:latin typeface="Arial"/>
              </a:rPr>
              <a:t>Said 95%, it did: nudge by just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0.05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Confident and wrong gets a full push, but never more than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97986"/>
            <a:ext cx="5653735" cy="2403729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625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880866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24f046de8f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10050"/>
            <a:ext cx="1847088" cy="457200"/>
          </a:xfrm>
          <a:prstGeom prst="rect">
            <a:avLst/>
          </a:prstGeom>
        </p:spPr>
      </p:pic>
      <p:pic>
        <p:nvPicPr>
          <p:cNvPr id="15" name="Picture 14" descr="a7a598b6dc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740402"/>
            <a:ext cx="4700016" cy="31394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127498"/>
            <a:ext cx="5287975" cy="763905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18938"/>
            <a:ext cx="5013655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loss = np.sum(y * np.logaddexp(0, -f)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              + (1 - y) * np.logaddexp(0, f))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grad = 1 / (1 + np.exp(-f)) - y</a:t>
            </a:r>
          </a:p>
        </p:txBody>
      </p:sp>
      <p:pic>
        <p:nvPicPr>
          <p:cNvPr id="18" name="Picture 17" descr="s53_gra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0853" y="1691640"/>
            <a:ext cx="4103762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18</a:t>
            </a:r>
          </a:p>
        </p:txBody>
      </p:sp>
      <p:pic>
        <p:nvPicPr>
          <p:cNvPr id="20" name="Picture 19" descr="tb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5.4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Decoding alarm calls without blowing up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653735" cy="1878901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9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287975" cy="1229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Meerkats use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different alarm calls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for eagles, jackals and cobras. From a call's pitch and duration, the network outputs three scores, and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softmax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turns them into probabilities.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A very confident network can output scores like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1000</a:t>
            </a:r>
            <a:r>
              <a:rPr sz="1450" b="0" i="0">
                <a:solidFill>
                  <a:srgbClr val="2B2B2B"/>
                </a:solidFill>
                <a:latin typeface="Arial"/>
              </a:rPr>
              <a:t>, and np.exp(1000) is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inf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Then inf / inf = nan.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9141"/>
            <a:ext cx="5653735" cy="1613789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63733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982021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11205"/>
            <a:ext cx="5287975" cy="507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Write a softmax that never overflows. Columns are examples, so normalise over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axis 0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18316"/>
            <a:ext cx="5287975" cy="384302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09756"/>
            <a:ext cx="5013655" cy="201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softmax(z):   # (K, N) -&gt; (K, N)</a:t>
            </a:r>
          </a:p>
        </p:txBody>
      </p:sp>
      <p:pic>
        <p:nvPicPr>
          <p:cNvPr id="17" name="Picture 16" descr="p54_overfl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539" y="1691640"/>
            <a:ext cx="2848390" cy="457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19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5.4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Subtract the biggest score first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653735" cy="1878901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287975" cy="1229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Softmax only cares about 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differences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between scores. It's like relative fluorescence: subtracting the same background from every channel doesn't change the ratios.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Subtract 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largest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score and the biggest exponent becomes e⁰ = 1, so nothing can overflow.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9141"/>
            <a:ext cx="5653735" cy="2014982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63733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982021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141fcc035d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11205"/>
            <a:ext cx="4251960" cy="6492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5033581"/>
            <a:ext cx="5287975" cy="570230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5021"/>
            <a:ext cx="5013655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e = np.exp(z - z.max(axis=0, keepdims=True))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return e / e.sum(axis=0, keepdims=True)</a:t>
            </a:r>
          </a:p>
        </p:txBody>
      </p:sp>
      <p:pic>
        <p:nvPicPr>
          <p:cNvPr id="17" name="Picture 16" descr="s54_s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4976" y="1691640"/>
            <a:ext cx="2775517" cy="457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20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5.6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Which way is the burrow?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6019495" cy="1663446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9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65373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At dusk, each foraging group heads home: roughly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due west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But headings are angles, and angles wrap around: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+179° and −179° are only 2° apart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Take the ordinary average of these headings and see where it sends the mob.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6019495" cy="1829244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5750"/>
            <a:ext cx="5653735" cy="72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For a constant model μ, minimise the von Mises loss and show that the best μ satisfies Σ sin(yᵢ − μ) = 0. Then implement it and compare with np.mean.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18316"/>
            <a:ext cx="5653735" cy="384302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09756"/>
            <a:ext cx="5379415" cy="201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vonmises_mu_mle(angles):</a:t>
            </a:r>
          </a:p>
        </p:txBody>
      </p:sp>
      <p:pic>
        <p:nvPicPr>
          <p:cNvPr id="17" name="Picture 16" descr="p56_comp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6751" y="1691640"/>
            <a:ext cx="4557727" cy="457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21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5.6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Average the arrows, not the numbers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6019495" cy="1663446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65373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Treat each heading as a little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arrow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Add the arrows head to tail and read off where the total points.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Same trick as for circadian phase or cell-migration direction: the ordinary mean of angles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breaks at the wrap-around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6019495" cy="2379091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c41fe3a474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095750"/>
            <a:ext cx="4946904" cy="554736"/>
          </a:xfrm>
          <a:prstGeom prst="rect">
            <a:avLst/>
          </a:prstGeom>
        </p:spPr>
      </p:pic>
      <p:pic>
        <p:nvPicPr>
          <p:cNvPr id="15" name="Picture 14" descr="18972596125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723638"/>
            <a:ext cx="3508248" cy="5791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375910"/>
            <a:ext cx="5653735" cy="376555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67349"/>
            <a:ext cx="5379415" cy="193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np.arctan2(np.sin(a).sum(), np.cos(a).sum())</a:t>
            </a:r>
          </a:p>
        </p:txBody>
      </p:sp>
      <p:pic>
        <p:nvPicPr>
          <p:cNvPr id="18" name="Picture 17" descr="s56_compa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6751" y="1691640"/>
            <a:ext cx="4557727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22</a:t>
            </a:r>
          </a:p>
        </p:txBody>
      </p:sp>
      <p:pic>
        <p:nvPicPr>
          <p:cNvPr id="20" name="Picture 19" descr="tb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154489" cy="365760"/>
          </a:xfrm>
          <a:prstGeom prst="roundRect">
            <a:avLst>
              <a:gd name="adj" fmla="val 50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3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6058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CHAPTER 6 · FITTING MODELS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Walking downhill in the fog</a:t>
            </a:r>
          </a:p>
        </p:txBody>
      </p:sp>
      <p:pic>
        <p:nvPicPr>
          <p:cNvPr id="6" name="Picture 5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386012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73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Gradient descent: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feel the slope, take a step downhill, repeat. Real network losses are bumpy, with many dips and flat stretches.</a:t>
            </a:r>
          </a:p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SGD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uses a random handful of examples per step: cheap and noisy, and the noise helps it escape bad dips.</a:t>
            </a:r>
          </a:p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Momentum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builds up speed like a rolling ball.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Adam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also gives every direction a similar step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06252"/>
            <a:ext cx="5745175" cy="1702308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70844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489132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fe1e37ebfb8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818316"/>
            <a:ext cx="1618488" cy="487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379148"/>
            <a:ext cx="5379415" cy="492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α is the </a:t>
            </a:r>
            <a:r>
              <a:rPr sz="1400" b="1" i="0">
                <a:solidFill>
                  <a:srgbClr val="2B2B2B"/>
                </a:solidFill>
                <a:latin typeface="Arial"/>
              </a:rPr>
              <a:t>learning rate</a:t>
            </a:r>
            <a:r>
              <a:rPr sz="1400" b="0" i="0">
                <a:solidFill>
                  <a:srgbClr val="2B2B2B"/>
                </a:solidFill>
                <a:latin typeface="Arial"/>
              </a:rPr>
              <a:t>: the step length. One pass through all the data is an </a:t>
            </a:r>
            <a:r>
              <a:rPr sz="1400" b="1" i="0">
                <a:solidFill>
                  <a:srgbClr val="2B2B2B"/>
                </a:solidFill>
                <a:latin typeface="Arial"/>
              </a:rPr>
              <a:t>epoch</a:t>
            </a:r>
            <a:r>
              <a:rPr sz="140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pic>
        <p:nvPicPr>
          <p:cNvPr id="16" name="Picture 15" descr="c068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628" y="1691640"/>
            <a:ext cx="2673654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23</a:t>
            </a:r>
          </a:p>
        </p:txBody>
      </p:sp>
      <p:pic>
        <p:nvPicPr>
          <p:cNvPr id="18" name="Picture 17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6.4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Build three better walkers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663446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3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Plain gradient descent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zig-zags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across narrow valleys and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crawls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along flat ones.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Build the three upgrades straight from the book's equations, then race them on a long, narrow valley.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5745175" cy="2151697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5750"/>
            <a:ext cx="5379415" cy="291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Each optimiser returns its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path</a:t>
            </a:r>
            <a:r>
              <a:rPr sz="1450" b="0" i="0">
                <a:solidFill>
                  <a:srgbClr val="2B2B2B"/>
                </a:solidFill>
                <a:latin typeface="Arial"/>
              </a:rPr>
              <a:t>, including the start: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7405"/>
            <a:ext cx="5379415" cy="787146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78845"/>
            <a:ext cx="5105095" cy="604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momentum(grad_fn, phi, alpha, beta, n_steps):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nesterov(...):  # grad at phi - alpha*beta*m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def adam(grad_fn, phi, alpha, beta, gamma, ...):</a:t>
            </a:r>
          </a:p>
        </p:txBody>
      </p:sp>
      <p:pic>
        <p:nvPicPr>
          <p:cNvPr id="17" name="Picture 16" descr="654e19f34a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47703"/>
            <a:ext cx="3599688" cy="277368"/>
          </a:xfrm>
          <a:prstGeom prst="rect">
            <a:avLst/>
          </a:prstGeom>
        </p:spPr>
      </p:pic>
      <p:pic>
        <p:nvPicPr>
          <p:cNvPr id="18" name="Picture 17" descr="ch6_ba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855" y="1691640"/>
            <a:ext cx="5029200" cy="2581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24</a:t>
            </a:r>
          </a:p>
        </p:txBody>
      </p:sp>
      <p:pic>
        <p:nvPicPr>
          <p:cNvPr id="20" name="Picture 19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6.4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Momentum remembers; Adam rescales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653735" cy="2119757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287975" cy="1470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Momentum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keeps a running average of recent gradients, so consistent directions add up and zig-zags cancel out.</a:t>
            </a:r>
          </a:p>
          <a:p>
            <a:pPr algn="l" marL="201168" indent="-182880">
              <a:spcAft>
                <a:spcPts val="4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Nesterov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peeks at where momentum is about to carry you and measures the slope there.</a:t>
            </a:r>
          </a:p>
          <a:p>
            <a:pPr algn="l" marL="201168" indent="-182880">
              <a:spcAft>
                <a:spcPts val="6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Adam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also tracks each knob's typical gradient size and divides by it, so every knob moves at a similar 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39997"/>
            <a:ext cx="5653735" cy="2210308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04589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222877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7ba2412a03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52061"/>
            <a:ext cx="4059936" cy="457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5082413"/>
            <a:ext cx="5287975" cy="957580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73853"/>
            <a:ext cx="5013655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m = beta*m + (1-beta)*g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v = gamma*v + (1-gamma)*g**2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mt, vt = m/(1-beta**(t+1)), v/(1-gamma**(t+1))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phi = phi - alpha*mt/(np.sqrt(vt)+eps)</a:t>
            </a:r>
          </a:p>
        </p:txBody>
      </p:sp>
      <p:pic>
        <p:nvPicPr>
          <p:cNvPr id="17" name="Picture 16" descr="c074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5918" y="1691640"/>
            <a:ext cx="2973633" cy="457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25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190494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3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64185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CHALLENGE 6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Race to the burrow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663446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3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dune function has a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curved, banana-shaped valley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You start at (−1.5, 2); the burrow is at (1, 1).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Pick an optimiser and tune it. You arrive when the loss drops below 10⁻⁴.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Fewer steps wins.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5745175" cy="2226691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5750"/>
            <a:ext cx="5379415" cy="507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Swap in momentum, nesterov or adam and tune the hyperparameters.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02861"/>
            <a:ext cx="5379415" cy="585724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94301"/>
            <a:ext cx="5105095" cy="402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my_path = gd(dune_grad, [-1.5, 2.0],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             lr=0.001, n=3000)   # beat this</a:t>
            </a:r>
          </a:p>
        </p:txBody>
      </p:sp>
      <p:pic>
        <p:nvPicPr>
          <p:cNvPr id="17" name="Picture 16" descr="1f94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61737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5280025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&lt; 2,000 steps</a:t>
            </a:r>
          </a:p>
        </p:txBody>
      </p:sp>
      <p:pic>
        <p:nvPicPr>
          <p:cNvPr id="19" name="Picture 18" descr="1f94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261737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74086" y="5280025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&lt; 600</a:t>
            </a:r>
          </a:p>
        </p:txBody>
      </p:sp>
      <p:pic>
        <p:nvPicPr>
          <p:cNvPr id="21" name="Picture 20" descr="1f94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1486" y="5261737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45534" y="5280025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&lt; 200</a:t>
            </a:r>
          </a:p>
        </p:txBody>
      </p:sp>
      <p:pic>
        <p:nvPicPr>
          <p:cNvPr id="23" name="Picture 22" descr="pC6_du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3855" y="1691640"/>
            <a:ext cx="5029200" cy="372762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26</a:t>
            </a:r>
          </a:p>
        </p:txBody>
      </p:sp>
      <p:pic>
        <p:nvPicPr>
          <p:cNvPr id="25" name="Picture 24" descr="tb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3218497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66985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CHALLENGE 6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Adam reaches the burrow in 160 steps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170557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521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valley floor is long and nearly flat, but its walls are steep.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Plain gradient descent has to take tiny steps so it doesn't bounce off the walls, so it crawls: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still not home after 3,000 steps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Adam divides by each direction's typical gradient size, so it can stride along the flat floor without bouncing.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90797"/>
            <a:ext cx="5745175" cy="2211832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55389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273677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02861"/>
            <a:ext cx="5379415" cy="585724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94301"/>
            <a:ext cx="5105095" cy="402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adam(dune_grad, [-1.5, 2.0], alpha=0.2,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     beta=0.9, gamma=0.99, n_steps=3000)</a:t>
            </a:r>
          </a:p>
        </p:txBody>
      </p:sp>
      <p:pic>
        <p:nvPicPr>
          <p:cNvPr id="16" name="Picture 15" descr="1f94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61737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5568" y="5280025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160 steps: 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73217"/>
            <a:ext cx="5379415" cy="492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Momentum with a bigger learning rate can also reach silver or gold.</a:t>
            </a:r>
          </a:p>
        </p:txBody>
      </p:sp>
      <p:pic>
        <p:nvPicPr>
          <p:cNvPr id="19" name="Picture 18" descr="sC6_ra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855" y="1691640"/>
            <a:ext cx="5029200" cy="37276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27</a:t>
            </a:r>
          </a:p>
        </p:txBody>
      </p:sp>
      <p:pic>
        <p:nvPicPr>
          <p:cNvPr id="21" name="Picture 20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4439691" cy="365760"/>
          </a:xfrm>
          <a:prstGeom prst="roundRect">
            <a:avLst>
              <a:gd name="adj" fmla="val 50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4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389105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CHAPTER 7 · GRADIENTS AND INITIALISATION</a:t>
            </a:r>
          </a:p>
        </p:txBody>
      </p:sp>
      <p:pic>
        <p:nvPicPr>
          <p:cNvPr id="5" name="Picture 4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6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Backprop: the chain rule with a good memory</a:t>
            </a:r>
          </a:p>
        </p:txBody>
      </p:sp>
      <p:pic>
        <p:nvPicPr>
          <p:cNvPr id="7" name="Picture 6" descr="ch7_ch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585" y="1600200"/>
            <a:ext cx="8916348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069080"/>
            <a:ext cx="5408676" cy="2094357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4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33672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425196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81144"/>
            <a:ext cx="5042916" cy="1445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To learn, every knob needs to know how it affects the loss.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Pass the error backwards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, one stage at a time, like tracing a signalling cascade back from the phenotype.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Each stage multiplies by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how sensitive it is to its input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Store every value on the way forward so nothing is computed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4069080"/>
            <a:ext cx="5408676" cy="1879854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f5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516" y="4233672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80276" y="425196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5" name="Picture 14" descr="f58cc8acbec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4516" y="4581144"/>
            <a:ext cx="2822448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14516" y="5111496"/>
            <a:ext cx="5042916" cy="7002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For a deep ReLU net the same rule becomes matrix products (eqs 7.24–7.26). PyTorch's loss.backward() does exactly this.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28</a:t>
            </a:r>
          </a:p>
        </p:txBody>
      </p:sp>
      <p:pic>
        <p:nvPicPr>
          <p:cNvPr id="18" name="Picture 17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7.1 · THE PROBLEM</a:t>
            </a:r>
          </a:p>
        </p:txBody>
      </p:sp>
      <p:pic>
        <p:nvPicPr>
          <p:cNvPr id="5" name="Picture 4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6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Backprop the toy model by hand</a:t>
            </a:r>
          </a:p>
        </p:txBody>
      </p:sp>
      <p:pic>
        <p:nvPicPr>
          <p:cNvPr id="7" name="Picture 6" descr="p71_ch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585" y="1600200"/>
            <a:ext cx="8916348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069080"/>
            <a:ext cx="5408676" cy="2211723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4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33672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425196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81144"/>
            <a:ext cx="5042916" cy="1229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book's toy model chains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sin</a:t>
            </a:r>
            <a:r>
              <a:rPr sz="1450" b="0" i="0">
                <a:solidFill>
                  <a:srgbClr val="2B2B2B"/>
                </a:solidFill>
                <a:latin typeface="Arial"/>
              </a:rPr>
              <a:t>,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exp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and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cos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, one unit per layer. The forward pass is done and every value is stored.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Your job: send the error signal back down the chain, one link at a time.</a:t>
            </a:r>
          </a:p>
        </p:txBody>
      </p:sp>
      <p:pic>
        <p:nvPicPr>
          <p:cNvPr id="12" name="Picture 11" descr="32883151d6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810821"/>
            <a:ext cx="5042916" cy="25967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31636" y="4069080"/>
            <a:ext cx="5408676" cy="2016633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f4d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4516" y="4233672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80276" y="425196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4581144"/>
            <a:ext cx="5042916" cy="507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Fill in toy_backward: every line is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one multiplication by a local derivative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5088255"/>
            <a:ext cx="5042916" cy="787146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1676" y="5179695"/>
            <a:ext cx="4768596" cy="604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dl_df3 = 2 * (v['f3'] - y)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dl_dh3 = ?   # TODO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dl_df2 = ?   # TODO   ... down to dl_df0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29</a:t>
            </a:r>
          </a:p>
        </p:txBody>
      </p:sp>
      <p:pic>
        <p:nvPicPr>
          <p:cNvPr id="20" name="Picture 19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7.1 · THE SOLUTION</a:t>
            </a:r>
          </a:p>
        </p:txBody>
      </p:sp>
      <p:pic>
        <p:nvPicPr>
          <p:cNvPr id="5" name="Picture 4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6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One local derivative per link</a:t>
            </a:r>
          </a:p>
        </p:txBody>
      </p:sp>
      <p:pic>
        <p:nvPicPr>
          <p:cNvPr id="7" name="Picture 6" descr="s71_ch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585" y="1600200"/>
            <a:ext cx="8916348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069080"/>
            <a:ext cx="5408676" cy="1878901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4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33672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425196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81144"/>
            <a:ext cx="5042916" cy="1229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Walk backwards along the chain. At each link ask: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if this changed a little, how much would the next one change?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Then multiply.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For the weights, multiply by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what flowed into them</a:t>
            </a:r>
            <a:r>
              <a:rPr sz="1450" b="0" i="0">
                <a:solidFill>
                  <a:srgbClr val="2B2B2B"/>
                </a:solidFill>
                <a:latin typeface="Arial"/>
              </a:rPr>
              <a:t>: ∂ℓ/∂ωₖ = hₖ · ∂ℓ/∂fₖ.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4069080"/>
            <a:ext cx="5408676" cy="2067306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f5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516" y="4233672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80276" y="425196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4516" y="4581144"/>
            <a:ext cx="5042916" cy="1344930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1676" y="4672584"/>
            <a:ext cx="4768596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dl_dh3 = p['omega3'] * dl_df3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dl_df2 = -np.sin(v['f2']) * dl_dh3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dl_dh2 = p['omega2'] * dl_df2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dl_df1 = v['h2'] * dl_dh2   # exp' = exp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dl_dh1 = p['omega1'] * dl_df1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8EEF2"/>
                </a:solidFill>
                <a:latin typeface="Courier New"/>
              </a:rPr>
              <a:t>dl_df0 = np.cos(v['f0']) * dl_dh1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30</a:t>
            </a:r>
          </a:p>
        </p:txBody>
      </p:sp>
      <p:pic>
        <p:nvPicPr>
          <p:cNvPr id="18" name="Picture 17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4439691" cy="365760"/>
          </a:xfrm>
          <a:prstGeom prst="roundRect">
            <a:avLst>
              <a:gd name="adj" fmla="val 50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389105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CHAPTER 7 · GRADIENTS AND INITIALISATION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Keep the whisper audible: He initialisation</a:t>
            </a:r>
          </a:p>
        </p:txBody>
      </p:sp>
      <p:pic>
        <p:nvPicPr>
          <p:cNvPr id="6" name="Picture 5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309812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660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Whisper a message down a line of 50 meerkats and it either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fades to nothing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or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becomes a scream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The signal in a deep network does the same.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So choose the random starting weights so that each layer keeps the signal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the same size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For ReLU that means variance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2 / D</a:t>
            </a:r>
            <a:r>
              <a:rPr sz="1450" b="0" i="0">
                <a:solidFill>
                  <a:srgbClr val="2B2B2B"/>
                </a:solidFill>
                <a:latin typeface="Arial"/>
              </a:rPr>
              <a:t>: the 2 makes up for ReLU zeroing half the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30052"/>
            <a:ext cx="5745175" cy="1650492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394644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412932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0bccb7fca1c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742116"/>
            <a:ext cx="3325368" cy="4358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251132"/>
            <a:ext cx="5379415" cy="492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The same argument backwards uses the next layer's width; a compromise is 4 / (Dₕ + Dₕ′).</a:t>
            </a:r>
          </a:p>
        </p:txBody>
      </p:sp>
      <p:pic>
        <p:nvPicPr>
          <p:cNvPr id="16" name="Picture 15" descr="ch7_in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855" y="1691640"/>
            <a:ext cx="5029200" cy="33959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31</a:t>
            </a:r>
          </a:p>
        </p:txBody>
      </p:sp>
      <p:pic>
        <p:nvPicPr>
          <p:cNvPr id="18" name="Picture 17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4114609" cy="365760"/>
          </a:xfrm>
          <a:prstGeom prst="roundRect">
            <a:avLst>
              <a:gd name="adj" fmla="val 50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3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35659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CHAPTER 8 · MEASURING PERFORMANCE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Does it work on meerkats it has never heard?</a:t>
            </a:r>
          </a:p>
        </p:txBody>
      </p:sp>
      <p:pic>
        <p:nvPicPr>
          <p:cNvPr id="6" name="Picture 5" descr="meerkat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677668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2028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Always test on data the model has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never seen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Test error comes from three places:</a:t>
            </a:r>
          </a:p>
          <a:p>
            <a:pPr algn="l" marL="201168" indent="-182880">
              <a:spcAft>
                <a:spcPts val="3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Noise: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measurement itself. You can't beat it.</a:t>
            </a:r>
          </a:p>
          <a:p>
            <a:pPr algn="l" marL="201168" indent="-182880">
              <a:spcAft>
                <a:spcPts val="3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Bias: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model is too simple to capture the truth.</a:t>
            </a:r>
          </a:p>
          <a:p>
            <a:pPr algn="l" marL="201168" indent="-182880">
              <a:spcAft>
                <a:spcPts val="6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Variance: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model chases the quirks of this particular training set.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More data cuts variance. More capacity cuts bias but usually raises variance.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97908"/>
            <a:ext cx="5745175" cy="1586484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762500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780788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126881cbea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109972"/>
            <a:ext cx="4553712" cy="3718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554980"/>
            <a:ext cx="5379415" cy="492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Choose hyperparameters on a </a:t>
            </a:r>
            <a:r>
              <a:rPr sz="1400" b="1" i="0">
                <a:solidFill>
                  <a:srgbClr val="2B2B2B"/>
                </a:solidFill>
                <a:latin typeface="Arial"/>
              </a:rPr>
              <a:t>validation</a:t>
            </a:r>
            <a:r>
              <a:rPr sz="1400" b="0" i="0">
                <a:solidFill>
                  <a:srgbClr val="2B2B2B"/>
                </a:solidFill>
                <a:latin typeface="Arial"/>
              </a:rPr>
              <a:t> set; touch the test set </a:t>
            </a:r>
            <a:r>
              <a:rPr sz="1400" b="1" i="0">
                <a:solidFill>
                  <a:srgbClr val="2B2B2B"/>
                </a:solidFill>
                <a:latin typeface="Arial"/>
              </a:rPr>
              <a:t>once</a:t>
            </a:r>
            <a:r>
              <a:rPr sz="140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pic>
        <p:nvPicPr>
          <p:cNvPr id="16" name="Picture 15" descr="c103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855" y="1691640"/>
            <a:ext cx="5029200" cy="38141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32</a:t>
            </a:r>
          </a:p>
        </p:txBody>
      </p:sp>
      <p:pic>
        <p:nvPicPr>
          <p:cNvPr id="18" name="Picture 17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8.1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Test loss goes up, test error stays flat?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156335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39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507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Training the meerkat call classifier: late in training, 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test loss climbs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while 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test error stays flat</a:t>
            </a:r>
            <a:r>
              <a:rPr sz="1450" b="0" i="0">
                <a:solidFill>
                  <a:srgbClr val="2B2B2B"/>
                </a:solidFill>
                <a:latin typeface="Arial"/>
              </a:rPr>
              <a:t>. Why?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76575"/>
            <a:ext cx="5745175" cy="2374455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41167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259455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88639"/>
            <a:ext cx="5379415" cy="1267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(a)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learning rate is too high, so the optimiser diverges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(b)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model makes the same mistakes, with growing confidence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(c)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test set is mislabelled</a:t>
            </a:r>
          </a:p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(d)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ReLUs die during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56416"/>
            <a:ext cx="5379415" cy="384302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47856"/>
            <a:ext cx="5105095" cy="201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answer_8_1 = '?'</a:t>
            </a:r>
          </a:p>
        </p:txBody>
      </p:sp>
      <p:pic>
        <p:nvPicPr>
          <p:cNvPr id="17" name="Picture 16" descr="c095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623" y="1691640"/>
            <a:ext cx="2785664" cy="457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33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8.1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(b) Same mistakes, more confidence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386012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73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The classifier keeps getting 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same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test calls wrong, but becomes ever more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certain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about them.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Error only counts wrong answers. Cross-entropy also charges for confidence, and a confident wrong answer is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very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expensive (remember 5.3).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Like a reviewer who doesn't change their verdicts but argues them more and more loudly.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06252"/>
            <a:ext cx="5745175" cy="1528572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70844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489132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pic>
        <p:nvPicPr>
          <p:cNvPr id="14" name="Picture 13" descr="76bbc7548f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818316"/>
            <a:ext cx="4215384" cy="3139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205412"/>
            <a:ext cx="5379415" cy="492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2B2B"/>
                </a:solidFill>
                <a:latin typeface="Arial"/>
              </a:rPr>
              <a:t>(a)</a:t>
            </a:r>
            <a:r>
              <a:rPr sz="1400" b="0" i="0">
                <a:solidFill>
                  <a:srgbClr val="2B2B2B"/>
                </a:solidFill>
                <a:latin typeface="Arial"/>
              </a:rPr>
              <a:t> would raise the training loss too. </a:t>
            </a:r>
            <a:r>
              <a:rPr sz="1400" b="1" i="0">
                <a:solidFill>
                  <a:srgbClr val="2B2B2B"/>
                </a:solidFill>
                <a:latin typeface="Arial"/>
              </a:rPr>
              <a:t>(c)</a:t>
            </a:r>
            <a:r>
              <a:rPr sz="1400" b="0" i="0">
                <a:solidFill>
                  <a:srgbClr val="2B2B2B"/>
                </a:solidFill>
                <a:latin typeface="Arial"/>
              </a:rPr>
              <a:t> doesn't change over time. </a:t>
            </a:r>
            <a:r>
              <a:rPr sz="1400" b="1" i="0">
                <a:solidFill>
                  <a:srgbClr val="2B2B2B"/>
                </a:solidFill>
                <a:latin typeface="Arial"/>
              </a:rPr>
              <a:t>(d)</a:t>
            </a:r>
            <a:r>
              <a:rPr sz="1400" b="0" i="0">
                <a:solidFill>
                  <a:srgbClr val="2B2B2B"/>
                </a:solidFill>
                <a:latin typeface="Arial"/>
              </a:rPr>
              <a:t> would hurt the error, not just the loss.</a:t>
            </a:r>
          </a:p>
        </p:txBody>
      </p:sp>
      <p:pic>
        <p:nvPicPr>
          <p:cNvPr id="16" name="Picture 15" descr="c052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1516" y="1691640"/>
            <a:ext cx="3433877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34</a:t>
            </a:r>
          </a:p>
        </p:txBody>
      </p:sp>
      <p:pic>
        <p:nvPicPr>
          <p:cNvPr id="18" name="Picture 17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42463" cy="365760"/>
          </a:xfrm>
          <a:prstGeom prst="roundRect">
            <a:avLst>
              <a:gd name="adj" fmla="val 50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3938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8.4 · 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Where is the bump?</a:t>
            </a:r>
          </a:p>
        </p:txBody>
      </p:sp>
      <p:pic>
        <p:nvPicPr>
          <p:cNvPr id="6" name="Picture 5" descr="meerkat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1663446"/>
          </a:xfrm>
          <a:prstGeom prst="roundRect">
            <a:avLst>
              <a:gd name="adj" fmla="val 5000"/>
            </a:avLst>
          </a:prstGeom>
          <a:solidFill>
            <a:srgbClr val="F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01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Grow a network from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1 to 2,000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hidden units on just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30 noisy training points</a:t>
            </a:r>
            <a:r>
              <a:rPr sz="1450" b="0" i="0">
                <a:solidFill>
                  <a:srgbClr val="2B2B2B"/>
                </a:solidFill>
                <a:latin typeface="Arial"/>
              </a:rPr>
              <a:t>, and track the test error.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Classical wisdom says bigger means more overfitting. Look at the curve: where does the test-error peak sit?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83686"/>
            <a:ext cx="5745175" cy="2374455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4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827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766566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Your task (in the notebook)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5750"/>
            <a:ext cx="5379415" cy="1267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(a)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at D = 1, where the model is too simple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(b)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around the width where it can first memorise the training data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(c)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at the largest width, with the most parameters</a:t>
            </a:r>
          </a:p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B2B2B"/>
                </a:solidFill>
                <a:latin typeface="Arial"/>
              </a:rPr>
              <a:t>(d)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at exactly D = 30, one unit per data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63527"/>
            <a:ext cx="5379415" cy="384302"/>
          </a:xfrm>
          <a:prstGeom prst="roundRect">
            <a:avLst>
              <a:gd name="adj" fmla="val 4000"/>
            </a:avLst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54967"/>
            <a:ext cx="5105095" cy="201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EF2"/>
                </a:solidFill>
                <a:latin typeface="Courier New"/>
              </a:rPr>
              <a:t>answer_8_4 = '?'</a:t>
            </a:r>
          </a:p>
        </p:txBody>
      </p:sp>
      <p:pic>
        <p:nvPicPr>
          <p:cNvPr id="17" name="Picture 16" descr="c105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855" y="1691640"/>
            <a:ext cx="5029200" cy="33958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35</a:t>
            </a:r>
          </a:p>
        </p:txBody>
      </p:sp>
      <p:pic>
        <p:nvPicPr>
          <p:cNvPr id="19" name="Picture 18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2970466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5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24218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PUZZLE 8.4 · THE SOLUTION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(b) Right where it can first memorise the data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5745175" cy="2601468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4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1874520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In plain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5379415" cy="1952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At the threshold the model has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just enough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knobs to pass through every noisy point, and only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one way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to do it: a wild, wiggly one.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With many more knobs there are endless ways to fit. Picking the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smoothest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(minimum norm) makes the test error </a:t>
            </a:r>
            <a:r>
              <a:rPr sz="1450" b="1" i="0">
                <a:solidFill>
                  <a:srgbClr val="2B2B2B"/>
                </a:solidFill>
                <a:latin typeface="Arial"/>
              </a:rPr>
              <a:t>fall again</a:t>
            </a:r>
            <a:r>
              <a:rPr sz="1450" b="0" i="0">
                <a:solidFill>
                  <a:srgbClr val="2B2B2B"/>
                </a:solidFill>
                <a:latin typeface="Arial"/>
              </a:rPr>
              <a:t>: double descent.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Arial"/>
              </a:rPr>
              <a:t>Not exactly D = 30: random hinges rarely land between every pair of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1708"/>
            <a:ext cx="5745175" cy="140989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5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686300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704588"/>
            <a:ext cx="5379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The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33772"/>
            <a:ext cx="5379415" cy="760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82880">
              <a:spcAft>
                <a:spcPts val="3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Interpolation threshold: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training error first hits ≈ 0.</a:t>
            </a:r>
          </a:p>
          <a:p>
            <a:pPr algn="l" marL="201168" indent="-182880">
              <a:spcAft>
                <a:spcPts val="600"/>
              </a:spcAft>
              <a:buClr>
                <a:srgbClr val="008759"/>
              </a:buClr>
              <a:buFont typeface="Arial"/>
              <a:buChar char="•"/>
            </a:pPr>
            <a:r>
              <a:rPr sz="1450" b="1" i="0">
                <a:solidFill>
                  <a:srgbClr val="2B2B2B"/>
                </a:solidFill>
                <a:latin typeface="Arial"/>
              </a:rPr>
              <a:t>Second descent:</a:t>
            </a:r>
            <a:r>
              <a:rPr sz="1450" b="0" i="0">
                <a:solidFill>
                  <a:srgbClr val="2B2B2B"/>
                </a:solidFill>
                <a:latin typeface="Arial"/>
              </a:rPr>
              <a:t> the inductive bias (smoothness) does the work.</a:t>
            </a:r>
          </a:p>
        </p:txBody>
      </p:sp>
      <p:pic>
        <p:nvPicPr>
          <p:cNvPr id="15" name="Picture 14" descr="c105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855" y="1691640"/>
            <a:ext cx="5029200" cy="33958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36</a:t>
            </a:r>
          </a:p>
        </p:txBody>
      </p:sp>
      <p:pic>
        <p:nvPicPr>
          <p:cNvPr id="17" name="Picture 16" descr="tb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859369" cy="365760"/>
          </a:xfrm>
          <a:prstGeom prst="roundRect">
            <a:avLst>
              <a:gd name="adj" fmla="val 50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f9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47472"/>
            <a:ext cx="131072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BACK AT TBIO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2296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From meerkats to molecules</a:t>
            </a:r>
          </a:p>
        </p:txBody>
      </p:sp>
      <p:pic>
        <p:nvPicPr>
          <p:cNvPr id="6" name="Picture 5" descr="meerkat_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09728"/>
            <a:ext cx="125984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737360"/>
            <a:ext cx="3514344" cy="2926080"/>
          </a:xfrm>
          <a:prstGeom prst="roundRect">
            <a:avLst>
              <a:gd name="adj" fmla="val 5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92024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5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" y="2060143"/>
            <a:ext cx="497433" cy="4974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1640" y="2103120"/>
            <a:ext cx="2188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2B2B"/>
                </a:solidFill>
                <a:latin typeface="Arial"/>
              </a:rPr>
              <a:t>Bias or variance?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05714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A deep network is a flexible classifier. With ~100 measured proteins, where would bias dominate, and where would variance?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1737360"/>
            <a:ext cx="3514344" cy="2926080"/>
          </a:xfrm>
          <a:prstGeom prst="roundRect">
            <a:avLst>
              <a:gd name="adj" fmla="val 5000"/>
            </a:avLst>
          </a:prstGeom>
          <a:solidFill>
            <a:srgbClr val="E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5904" y="192024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f9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807" y="2060143"/>
            <a:ext cx="497433" cy="4974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0304" y="2103120"/>
            <a:ext cx="2188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2B2B"/>
                </a:solidFill>
                <a:latin typeface="Arial"/>
              </a:rPr>
              <a:t>Which distribution?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5904" y="2880360"/>
            <a:ext cx="305714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Which output distribution suits a condensate count per cell? A droplet size? A partition coefficient?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5968" y="1737360"/>
            <a:ext cx="3514344" cy="2926080"/>
          </a:xfrm>
          <a:prstGeom prst="roundRect">
            <a:avLst>
              <a:gd name="adj" fmla="val 5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54568" y="192024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f4c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471" y="2060143"/>
            <a:ext cx="497433" cy="4974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68968" y="2103120"/>
            <a:ext cx="2188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2B2B"/>
                </a:solidFill>
                <a:latin typeface="Arial"/>
              </a:rPr>
              <a:t>Is bigger better?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4568" y="2880360"/>
            <a:ext cx="305714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Double descent says bigger can be better. When is that not true for our assay data?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507492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f4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882" y="5231282"/>
            <a:ext cx="555955" cy="55595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28800" y="50292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Next time · Chapter 9 (Regularisation):</a:t>
            </a:r>
            <a:r>
              <a:rPr sz="1500" b="0" i="0">
                <a:solidFill>
                  <a:srgbClr val="2B2B2B"/>
                </a:solidFill>
                <a:latin typeface="Arial"/>
              </a:rPr>
              <a:t> why do over-parameterised networks generalise at all?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Go further: the book's notebooks 3.3, 6.5, 7.2 and 8.3 (udlbook.github.io), and MNIST-1D, the real version of our call dataset.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985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Confidential and Proprietary  |  37</a:t>
            </a:r>
          </a:p>
        </p:txBody>
      </p:sp>
      <p:pic>
        <p:nvPicPr>
          <p:cNvPr id="27" name="Picture 26" descr="t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28232"/>
            <a:ext cx="108048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b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1980888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2B2B2B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8759"/>
                </a:solidFill>
                <a:latin typeface="Arial"/>
              </a:rPr>
              <a:t>Deep Learning in the Kalahari · next: chapter 9, regularisation</a:t>
            </a:r>
          </a:p>
        </p:txBody>
      </p:sp>
      <p:pic>
        <p:nvPicPr>
          <p:cNvPr id="6" name="Picture 5" descr="meerkat_pr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011680"/>
            <a:ext cx="3169919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A3A3A"/>
                </a:solidFill>
                <a:latin typeface="Arial"/>
              </a:rPr>
              <a:t>Based on Prince, Understanding Deep Learning (MIT Press, 2023; CC-BY-NC-ND). All data synthetic; not Transition Bio data. Emoji art: Twemoji (CC-BY 4.0). Internal training material: Confidential and Proprietary, Transition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