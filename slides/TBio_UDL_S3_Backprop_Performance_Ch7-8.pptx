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4"/>
  </p:sldMasterIdLst>
  <p:notesMasterIdLst>
    <p:notesMasterId r:id="rId22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13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2D05780-8FD2-49C1-B717-6DCDD0A3DB8D}">
          <p14:sldIdLst>
            <p14:sldId id="2147482217"/>
            <p14:sldId id="264"/>
            <p14:sldId id="2147482218"/>
            <p14:sldId id="2147482219"/>
            <p14:sldId id="2147482220"/>
            <p14:sldId id="2147482221"/>
            <p14:sldId id="2147482224"/>
            <p14:sldId id="2147482230"/>
            <p14:sldId id="2147482223"/>
            <p14:sldId id="2147482231"/>
            <p14:sldId id="262"/>
            <p14:sldId id="256"/>
            <p14:sldId id="276"/>
            <p14:sldId id="2147482228"/>
            <p14:sldId id="2147482229"/>
            <p14:sldId id="2147482226"/>
            <p14:sldId id="2147482232"/>
          </p14:sldIdLst>
        </p14:section>
        <p14:section name="Untitled Section" id="{A482B9FE-F82E-4C0C-945D-D85BA677D15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91D428-879C-40C4-73D5-B8B6B1DC3D2D}" name="Stephanie M. Torruella" initials="ST" userId="S::storruella@transitionbio.com::c0aa0133-371b-4d6d-8fe9-ae56575c9c5e" providerId="AD"/>
  <p188:author id="{0E406029-269A-AB68-0133-00566E7CCB9A}" name="Shilpi Arora" initials="SA" userId="S::sarora@Transitionbio.com::c55c68db-a3e2-4eca-89f2-966c62e91ca2" providerId="AD"/>
  <p188:author id="{8A55A83A-56C7-0A01-DE17-92951023F0A8}" name="Will Arter" initials="WA" userId="S::warter@Transitionbio.com::dff3fd33-fb71-4f4c-abf8-30e518e27fef" providerId="AD"/>
  <p188:author id="{F0083074-BA88-A507-A9FC-64CC17793B0F}" name="Marius Rebmann" initials="MR" userId="S::mrebmann@Transitionbio.com::6a274d54-82ee-4eff-a43d-1a2fd196fa3d" providerId="AD"/>
  <p188:author id="{715AB47A-F550-355B-C1B6-68C6F1324DC1}" name="Simon Woodcock" initials="SW" userId="S::swoodcock@Transitionbio.com::3d3c77b3-3870-48fa-8e1c-4e9dffd0d5cf" providerId="AD"/>
  <p188:author id="{03779B87-26EC-4450-F385-E33DA60C242D}" name="Alex Howarth" initials="AH" userId="S::ahowarth@Transitionbio.com::0ba22c72-e6b5-477f-b455-a93073b0326d" providerId="AD"/>
  <p188:author id="{C763818E-DDE8-5DA4-B059-90B21959B5D3}" name="Sebastien Degorce" initials="SD" userId="S::sdegorce@Transitionbio.com::c6bdaff8-e30d-476f-a6e8-81eeadf2857a" providerId="AD"/>
  <p188:author id="{F53A58C1-C20C-A9DD-6E1E-B8354C013F54}" name="Marius Rebmann" initials="MR" userId="S::mrebmann@transitionbio.com::6a274d54-82ee-4eff-a43d-1a2fd196fa3d" providerId="AD"/>
  <p188:author id="{17F593C9-917F-05D7-B23C-F1A74D632436}" name="Martin Kulander" initials="MK" userId="S::mkulander@Transitionbio.com::06093cbd-78df-4d98-95d1-1ca19aea9b0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13AE"/>
    <a:srgbClr val="DB94F7"/>
    <a:srgbClr val="FFFFFF"/>
    <a:srgbClr val="595959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9F5412-4814-499E-A407-E8906597EB3B}" v="18" dt="2026-10-07T12:14:18.659"/>
    <p1510:client id="{FC60FC2A-E72A-FF0E-4563-BAD76CD4AE8A}" v="9" dt="2026-10-07T13:35:44.1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1"/>
    <p:restoredTop sz="94679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9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3" Type="http://schemas.openxmlformats.org/officeDocument/2006/relationships/tags" Target="tags/tag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anie M. Torruella" userId="c0aa0133-371b-4d6d-8fe9-ae56575c9c5e" providerId="ADAL" clId="{D4B54141-8F2F-4EE8-9ECD-8B1923541E1F}"/>
    <pc:docChg chg="addSld modSld">
      <pc:chgData name="Stephanie M. Torruella" userId="c0aa0133-371b-4d6d-8fe9-ae56575c9c5e" providerId="ADAL" clId="{D4B54141-8F2F-4EE8-9ECD-8B1923541E1F}" dt="2026-10-07T12:14:58.358" v="60" actId="20577"/>
      <pc:docMkLst>
        <pc:docMk/>
      </pc:docMkLst>
      <pc:sldChg chg="add">
        <pc:chgData name="Stephanie M. Torruella" userId="c0aa0133-371b-4d6d-8fe9-ae56575c9c5e" providerId="ADAL" clId="{D4B54141-8F2F-4EE8-9ECD-8B1923541E1F}" dt="2026-10-07T12:14:10.477" v="7"/>
        <pc:sldMkLst>
          <pc:docMk/>
          <pc:sldMk cId="2649699631" sldId="256"/>
        </pc:sldMkLst>
      </pc:sldChg>
      <pc:sldChg chg="add">
        <pc:chgData name="Stephanie M. Torruella" userId="c0aa0133-371b-4d6d-8fe9-ae56575c9c5e" providerId="ADAL" clId="{D4B54141-8F2F-4EE8-9ECD-8B1923541E1F}" dt="2026-10-07T12:14:17.056" v="14"/>
        <pc:sldMkLst>
          <pc:docMk/>
          <pc:sldMk cId="588774382" sldId="259"/>
        </pc:sldMkLst>
      </pc:sldChg>
      <pc:sldChg chg="add">
        <pc:chgData name="Stephanie M. Torruella" userId="c0aa0133-371b-4d6d-8fe9-ae56575c9c5e" providerId="ADAL" clId="{D4B54141-8F2F-4EE8-9ECD-8B1923541E1F}" dt="2026-10-07T12:14:18.128" v="16"/>
        <pc:sldMkLst>
          <pc:docMk/>
          <pc:sldMk cId="1061694454" sldId="260"/>
        </pc:sldMkLst>
      </pc:sldChg>
      <pc:sldChg chg="add">
        <pc:chgData name="Stephanie M. Torruella" userId="c0aa0133-371b-4d6d-8fe9-ae56575c9c5e" providerId="ADAL" clId="{D4B54141-8F2F-4EE8-9ECD-8B1923541E1F}" dt="2026-10-07T12:14:18.656" v="17"/>
        <pc:sldMkLst>
          <pc:docMk/>
          <pc:sldMk cId="3708365642" sldId="261"/>
        </pc:sldMkLst>
      </pc:sldChg>
      <pc:sldChg chg="add">
        <pc:chgData name="Stephanie M. Torruella" userId="c0aa0133-371b-4d6d-8fe9-ae56575c9c5e" providerId="ADAL" clId="{D4B54141-8F2F-4EE8-9ECD-8B1923541E1F}" dt="2026-10-07T12:14:09.953" v="6"/>
        <pc:sldMkLst>
          <pc:docMk/>
          <pc:sldMk cId="1074570326" sldId="262"/>
        </pc:sldMkLst>
      </pc:sldChg>
      <pc:sldChg chg="add">
        <pc:chgData name="Stephanie M. Torruella" userId="c0aa0133-371b-4d6d-8fe9-ae56575c9c5e" providerId="ADAL" clId="{D4B54141-8F2F-4EE8-9ECD-8B1923541E1F}" dt="2026-10-07T12:14:17.582" v="15"/>
        <pc:sldMkLst>
          <pc:docMk/>
          <pc:sldMk cId="4082321924" sldId="263"/>
        </pc:sldMkLst>
      </pc:sldChg>
      <pc:sldChg chg="modSp mod">
        <pc:chgData name="Stephanie M. Torruella" userId="c0aa0133-371b-4d6d-8fe9-ae56575c9c5e" providerId="ADAL" clId="{D4B54141-8F2F-4EE8-9ECD-8B1923541E1F}" dt="2026-10-07T12:14:47.194" v="41" actId="6549"/>
        <pc:sldMkLst>
          <pc:docMk/>
          <pc:sldMk cId="1572229099" sldId="264"/>
        </pc:sldMkLst>
        <pc:spChg chg="mod">
          <ac:chgData name="Stephanie M. Torruella" userId="c0aa0133-371b-4d6d-8fe9-ae56575c9c5e" providerId="ADAL" clId="{D4B54141-8F2F-4EE8-9ECD-8B1923541E1F}" dt="2026-10-07T12:14:47.194" v="41" actId="6549"/>
          <ac:spMkLst>
            <pc:docMk/>
            <pc:sldMk cId="1572229099" sldId="264"/>
            <ac:spMk id="2" creationId="{4EDBBECE-3610-7DCB-4939-2CE0902936F1}"/>
          </ac:spMkLst>
        </pc:spChg>
      </pc:sldChg>
      <pc:sldChg chg="add">
        <pc:chgData name="Stephanie M. Torruella" userId="c0aa0133-371b-4d6d-8fe9-ae56575c9c5e" providerId="ADAL" clId="{D4B54141-8F2F-4EE8-9ECD-8B1923541E1F}" dt="2026-10-07T12:14:11.005" v="8"/>
        <pc:sldMkLst>
          <pc:docMk/>
          <pc:sldMk cId="2591594260" sldId="276"/>
        </pc:sldMkLst>
      </pc:sldChg>
      <pc:sldChg chg="add">
        <pc:chgData name="Stephanie M. Torruella" userId="c0aa0133-371b-4d6d-8fe9-ae56575c9c5e" providerId="ADAL" clId="{D4B54141-8F2F-4EE8-9ECD-8B1923541E1F}" dt="2026-10-07T12:14:04.171" v="0"/>
        <pc:sldMkLst>
          <pc:docMk/>
          <pc:sldMk cId="1070254613" sldId="2147482221"/>
        </pc:sldMkLst>
      </pc:sldChg>
      <pc:sldChg chg="modSp add mod">
        <pc:chgData name="Stephanie M. Torruella" userId="c0aa0133-371b-4d6d-8fe9-ae56575c9c5e" providerId="ADAL" clId="{D4B54141-8F2F-4EE8-9ECD-8B1923541E1F}" dt="2026-10-07T12:14:58.358" v="60" actId="20577"/>
        <pc:sldMkLst>
          <pc:docMk/>
          <pc:sldMk cId="3646234047" sldId="2147482222"/>
        </pc:sldMkLst>
        <pc:spChg chg="mod">
          <ac:chgData name="Stephanie M. Torruella" userId="c0aa0133-371b-4d6d-8fe9-ae56575c9c5e" providerId="ADAL" clId="{D4B54141-8F2F-4EE8-9ECD-8B1923541E1F}" dt="2026-10-07T12:14:58.358" v="60" actId="20577"/>
          <ac:spMkLst>
            <pc:docMk/>
            <pc:sldMk cId="3646234047" sldId="2147482222"/>
            <ac:spMk id="2" creationId="{712A4549-0F78-B772-1E19-669EB8FA0AEF}"/>
          </ac:spMkLst>
        </pc:spChg>
      </pc:sldChg>
      <pc:sldChg chg="add">
        <pc:chgData name="Stephanie M. Torruella" userId="c0aa0133-371b-4d6d-8fe9-ae56575c9c5e" providerId="ADAL" clId="{D4B54141-8F2F-4EE8-9ECD-8B1923541E1F}" dt="2026-10-07T12:14:08.920" v="4"/>
        <pc:sldMkLst>
          <pc:docMk/>
          <pc:sldMk cId="1619661167" sldId="2147482223"/>
        </pc:sldMkLst>
      </pc:sldChg>
      <pc:sldChg chg="add">
        <pc:chgData name="Stephanie M. Torruella" userId="c0aa0133-371b-4d6d-8fe9-ae56575c9c5e" providerId="ADAL" clId="{D4B54141-8F2F-4EE8-9ECD-8B1923541E1F}" dt="2026-10-07T12:14:07.569" v="2"/>
        <pc:sldMkLst>
          <pc:docMk/>
          <pc:sldMk cId="3658022613" sldId="2147482224"/>
        </pc:sldMkLst>
      </pc:sldChg>
      <pc:sldChg chg="add">
        <pc:chgData name="Stephanie M. Torruella" userId="c0aa0133-371b-4d6d-8fe9-ae56575c9c5e" providerId="ADAL" clId="{D4B54141-8F2F-4EE8-9ECD-8B1923541E1F}" dt="2026-10-07T12:14:15.071" v="11"/>
        <pc:sldMkLst>
          <pc:docMk/>
          <pc:sldMk cId="2537200403" sldId="2147482226"/>
        </pc:sldMkLst>
      </pc:sldChg>
      <pc:sldChg chg="add">
        <pc:chgData name="Stephanie M. Torruella" userId="c0aa0133-371b-4d6d-8fe9-ae56575c9c5e" providerId="ADAL" clId="{D4B54141-8F2F-4EE8-9ECD-8B1923541E1F}" dt="2026-10-07T12:14:15.591" v="12"/>
        <pc:sldMkLst>
          <pc:docMk/>
          <pc:sldMk cId="1177039718" sldId="2147482227"/>
        </pc:sldMkLst>
      </pc:sldChg>
      <pc:sldChg chg="add">
        <pc:chgData name="Stephanie M. Torruella" userId="c0aa0133-371b-4d6d-8fe9-ae56575c9c5e" providerId="ADAL" clId="{D4B54141-8F2F-4EE8-9ECD-8B1923541E1F}" dt="2026-10-07T12:14:11.497" v="9"/>
        <pc:sldMkLst>
          <pc:docMk/>
          <pc:sldMk cId="3247742397" sldId="2147482228"/>
        </pc:sldMkLst>
      </pc:sldChg>
      <pc:sldChg chg="add">
        <pc:chgData name="Stephanie M. Torruella" userId="c0aa0133-371b-4d6d-8fe9-ae56575c9c5e" providerId="ADAL" clId="{D4B54141-8F2F-4EE8-9ECD-8B1923541E1F}" dt="2026-10-07T12:14:11.985" v="10"/>
        <pc:sldMkLst>
          <pc:docMk/>
          <pc:sldMk cId="2093083687" sldId="2147482229"/>
        </pc:sldMkLst>
      </pc:sldChg>
      <pc:sldChg chg="add">
        <pc:chgData name="Stephanie M. Torruella" userId="c0aa0133-371b-4d6d-8fe9-ae56575c9c5e" providerId="ADAL" clId="{D4B54141-8F2F-4EE8-9ECD-8B1923541E1F}" dt="2026-10-07T12:14:08.394" v="3"/>
        <pc:sldMkLst>
          <pc:docMk/>
          <pc:sldMk cId="2458045819" sldId="2147482230"/>
        </pc:sldMkLst>
      </pc:sldChg>
      <pc:sldChg chg="add">
        <pc:chgData name="Stephanie M. Torruella" userId="c0aa0133-371b-4d6d-8fe9-ae56575c9c5e" providerId="ADAL" clId="{D4B54141-8F2F-4EE8-9ECD-8B1923541E1F}" dt="2026-10-07T12:14:09.450" v="5"/>
        <pc:sldMkLst>
          <pc:docMk/>
          <pc:sldMk cId="1467279910" sldId="2147482231"/>
        </pc:sldMkLst>
      </pc:sldChg>
      <pc:sldChg chg="add">
        <pc:chgData name="Stephanie M. Torruella" userId="c0aa0133-371b-4d6d-8fe9-ae56575c9c5e" providerId="ADAL" clId="{D4B54141-8F2F-4EE8-9ECD-8B1923541E1F}" dt="2026-10-07T12:14:16.399" v="13"/>
        <pc:sldMkLst>
          <pc:docMk/>
          <pc:sldMk cId="2086582491" sldId="2147482232"/>
        </pc:sldMkLst>
      </pc:sldChg>
    </pc:docChg>
  </pc:docChgLst>
  <pc:docChgLst>
    <pc:chgData name="Shilpi Arora" userId="S::sarora@transitionbio.com::c55c68db-a3e2-4eca-89f2-966c62e91ca2" providerId="AD" clId="Web-{FC60FC2A-E72A-FF0E-4563-BAD76CD4AE8A}"/>
    <pc:docChg chg="addSld delSld modSld modSection">
      <pc:chgData name="Shilpi Arora" userId="S::sarora@transitionbio.com::c55c68db-a3e2-4eca-89f2-966c62e91ca2" providerId="AD" clId="Web-{FC60FC2A-E72A-FF0E-4563-BAD76CD4AE8A}" dt="2026-10-07T13:35:44.183" v="6" actId="1076"/>
      <pc:docMkLst>
        <pc:docMk/>
      </pc:docMkLst>
      <pc:sldChg chg="addSp delSp modSp add del">
        <pc:chgData name="Shilpi Arora" userId="S::sarora@transitionbio.com::c55c68db-a3e2-4eca-89f2-966c62e91ca2" providerId="AD" clId="Web-{FC60FC2A-E72A-FF0E-4563-BAD76CD4AE8A}" dt="2026-10-07T13:34:40.277" v="2"/>
        <pc:sldMkLst>
          <pc:docMk/>
          <pc:sldMk cId="1070254613" sldId="2147482221"/>
        </pc:sldMkLst>
        <pc:spChg chg="add mod">
          <ac:chgData name="Shilpi Arora" userId="S::sarora@transitionbio.com::c55c68db-a3e2-4eca-89f2-966c62e91ca2" providerId="AD" clId="Web-{FC60FC2A-E72A-FF0E-4563-BAD76CD4AE8A}" dt="2026-10-07T13:34:40.277" v="2"/>
          <ac:spMkLst>
            <pc:docMk/>
            <pc:sldMk cId="1070254613" sldId="2147482221"/>
            <ac:spMk id="3" creationId="{E9E40C4A-8616-D21F-E566-9EF82835A734}"/>
          </ac:spMkLst>
        </pc:spChg>
        <pc:spChg chg="del">
          <ac:chgData name="Shilpi Arora" userId="S::sarora@transitionbio.com::c55c68db-a3e2-4eca-89f2-966c62e91ca2" providerId="AD" clId="Web-{FC60FC2A-E72A-FF0E-4563-BAD76CD4AE8A}" dt="2026-10-07T13:34:40.277" v="2"/>
          <ac:spMkLst>
            <pc:docMk/>
            <pc:sldMk cId="1070254613" sldId="2147482221"/>
            <ac:spMk id="6" creationId="{7B369665-394E-9CAA-7C70-23232919B278}"/>
          </ac:spMkLst>
        </pc:spChg>
      </pc:sldChg>
      <pc:sldChg chg="del">
        <pc:chgData name="Shilpi Arora" userId="S::sarora@transitionbio.com::c55c68db-a3e2-4eca-89f2-966c62e91ca2" providerId="AD" clId="Web-{FC60FC2A-E72A-FF0E-4563-BAD76CD4AE8A}" dt="2026-10-07T13:34:42.402" v="3"/>
        <pc:sldMkLst>
          <pc:docMk/>
          <pc:sldMk cId="3646234047" sldId="2147482222"/>
        </pc:sldMkLst>
      </pc:sldChg>
      <pc:sldChg chg="delSp">
        <pc:chgData name="Shilpi Arora" userId="S::sarora@transitionbio.com::c55c68db-a3e2-4eca-89f2-966c62e91ca2" providerId="AD" clId="Web-{FC60FC2A-E72A-FF0E-4563-BAD76CD4AE8A}" dt="2026-10-07T13:35:19.418" v="4"/>
        <pc:sldMkLst>
          <pc:docMk/>
          <pc:sldMk cId="3658022613" sldId="2147482224"/>
        </pc:sldMkLst>
        <pc:spChg chg="del">
          <ac:chgData name="Shilpi Arora" userId="S::sarora@transitionbio.com::c55c68db-a3e2-4eca-89f2-966c62e91ca2" providerId="AD" clId="Web-{FC60FC2A-E72A-FF0E-4563-BAD76CD4AE8A}" dt="2026-10-07T13:35:19.418" v="4"/>
          <ac:spMkLst>
            <pc:docMk/>
            <pc:sldMk cId="3658022613" sldId="2147482224"/>
            <ac:spMk id="5" creationId="{4197D6B3-4129-A663-B474-4BF3819E98F3}"/>
          </ac:spMkLst>
        </pc:spChg>
      </pc:sldChg>
      <pc:sldChg chg="modSp">
        <pc:chgData name="Shilpi Arora" userId="S::sarora@transitionbio.com::c55c68db-a3e2-4eca-89f2-966c62e91ca2" providerId="AD" clId="Web-{FC60FC2A-E72A-FF0E-4563-BAD76CD4AE8A}" dt="2026-10-07T13:35:36.668" v="5" actId="1076"/>
        <pc:sldMkLst>
          <pc:docMk/>
          <pc:sldMk cId="3247742397" sldId="2147482228"/>
        </pc:sldMkLst>
        <pc:spChg chg="mod">
          <ac:chgData name="Shilpi Arora" userId="S::sarora@transitionbio.com::c55c68db-a3e2-4eca-89f2-966c62e91ca2" providerId="AD" clId="Web-{FC60FC2A-E72A-FF0E-4563-BAD76CD4AE8A}" dt="2026-10-07T13:35:36.668" v="5" actId="1076"/>
          <ac:spMkLst>
            <pc:docMk/>
            <pc:sldMk cId="3247742397" sldId="2147482228"/>
            <ac:spMk id="2" creationId="{AEFC33DC-6908-E40A-53A0-4944CC473E54}"/>
          </ac:spMkLst>
        </pc:spChg>
      </pc:sldChg>
      <pc:sldChg chg="modSp">
        <pc:chgData name="Shilpi Arora" userId="S::sarora@transitionbio.com::c55c68db-a3e2-4eca-89f2-966c62e91ca2" providerId="AD" clId="Web-{FC60FC2A-E72A-FF0E-4563-BAD76CD4AE8A}" dt="2026-10-07T13:35:44.183" v="6" actId="1076"/>
        <pc:sldMkLst>
          <pc:docMk/>
          <pc:sldMk cId="2093083687" sldId="2147482229"/>
        </pc:sldMkLst>
        <pc:spChg chg="mod">
          <ac:chgData name="Shilpi Arora" userId="S::sarora@transitionbio.com::c55c68db-a3e2-4eca-89f2-966c62e91ca2" providerId="AD" clId="Web-{FC60FC2A-E72A-FF0E-4563-BAD76CD4AE8A}" dt="2026-10-07T13:35:44.183" v="6" actId="1076"/>
          <ac:spMkLst>
            <pc:docMk/>
            <pc:sldMk cId="2093083687" sldId="2147482229"/>
            <ac:spMk id="2" creationId="{B095A630-5355-5206-27A3-B53AD584F9EA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D7FE2-42ED-4D9E-A823-9C479D751818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06CCC5-01D3-4F8D-AF85-B1DD082023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1500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3 of 3: about 20 minutes of slides, then 60-70 minutes of hands-on puzzles in the Colab notebook. All data are synthetic, set in a meerkat field station.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Two-minute recap before today's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 pass stores every f_k and h_k. Backward pass multiplies by local derivatives. Puzzle 7.1 does the toy model by hand; Puzzle 7.2 does a deep ReLU net and is checked against torch autograd.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Variance of pre-activations multiplies by Dh*sigma^2/2 at each layer. He init sets that factor to 1. The figure recreates Fig 7.7 with our own numpy forward/backward code: 50 layers of 100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Using the fixed-joint network of Fig 8.4, fit in closed form, we estimate bias and variance from 300 datasets. Puzzle 8.3 checks eq 8.7: bias^2 + variance + noise matched the measured test MSE (0.174 vs 0.175).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Random frozen ReLU features plus min-norm least squares, 30 noisy points. The test error peaks at the interpolation threshold and then falls again. In this tiny 1D example it doesn't beat the classical sweet spot; on MNIST-1D with label noise in the book it does. Curse of dimensionality: in 40-D the inscribed sphere holds 3e-21 of the cube's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the notebook. Suggested pacing per part is in the table and in the notebook's intro.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prompts after the notebook. Next session: chapter 9, regularization.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26C8AEF-E997-EC4E-B378-A66555430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74" y="365126"/>
            <a:ext cx="10899972" cy="752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B273419-FEDA-F84C-BC87-837BD9C31A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240" y="1496924"/>
            <a:ext cx="10910806" cy="44802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33B3778E-E220-F541-9FDD-8533134B345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2808831" y="6356350"/>
            <a:ext cx="1094576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96F61E21-AD02-2947-9808-957C157512C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19799" y="6356350"/>
            <a:ext cx="3584692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C6DDC57F-1056-0B49-B1CD-711D67B603B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34046" y="6356350"/>
            <a:ext cx="436969" cy="365125"/>
          </a:xfrm>
        </p:spPr>
        <p:txBody>
          <a:bodyPr/>
          <a:lstStyle/>
          <a:p>
            <a:fld id="{F9C64585-196D-47E1-99AE-A85FB4E858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249691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3EA834-EEE0-554F-97F5-6CEA25C7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0" y="3572"/>
            <a:ext cx="12179299" cy="6850856"/>
          </a:xfrm>
          <a:prstGeom prst="rect">
            <a:avLst/>
          </a:prstGeom>
        </p:spPr>
      </p:pic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F0FFB0EF-6FEE-8D46-879F-76CC05116B6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489" b="82419"/>
          <a:stretch/>
        </p:blipFill>
        <p:spPr>
          <a:xfrm>
            <a:off x="6350" y="190118"/>
            <a:ext cx="3715986" cy="1205713"/>
          </a:xfrm>
          <a:prstGeom prst="rect">
            <a:avLst/>
          </a:prstGeom>
        </p:spPr>
      </p:pic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9268937D-4559-7A4C-B02D-68D0028D75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51213" y="5428368"/>
            <a:ext cx="6508431" cy="721196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500">
                <a:solidFill>
                  <a:srgbClr val="84BA77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FontTx/>
              <a:buNone/>
              <a:defRPr sz="1500"/>
            </a:lvl2pPr>
            <a:lvl3pPr marL="914400" indent="0">
              <a:buFontTx/>
              <a:buNone/>
              <a:defRPr sz="1500"/>
            </a:lvl3pPr>
            <a:lvl4pPr marL="1371600" indent="0">
              <a:buFontTx/>
              <a:buNone/>
              <a:defRPr sz="1500"/>
            </a:lvl4pPr>
            <a:lvl5pPr marL="1828800" indent="0">
              <a:buFontTx/>
              <a:buNone/>
              <a:defRPr sz="15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2E8A38-C68B-41D0-9681-886C6662A1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1213" y="3594227"/>
            <a:ext cx="6508431" cy="1288830"/>
          </a:xfrm>
        </p:spPr>
        <p:txBody>
          <a:bodyPr anchor="b">
            <a:noAutofit/>
          </a:bodyPr>
          <a:lstStyle>
            <a:lvl1pPr algn="l">
              <a:defRPr sz="47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910E484-CA48-D448-8CC1-0680BE90D9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51213" y="4928322"/>
            <a:ext cx="6508431" cy="500045"/>
          </a:xfrm>
        </p:spPr>
        <p:txBody>
          <a:bodyPr>
            <a:normAutofit/>
          </a:bodyPr>
          <a:lstStyle>
            <a:lvl1pPr marL="0" indent="0" algn="l">
              <a:buFontTx/>
              <a:buNone/>
              <a:defRPr sz="24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3966809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7367F-79CD-A0E8-E4DF-F3941FB6F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6A513-670A-F060-0657-EB846E987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C19C4-4812-9952-E11F-B4DEDD43B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76FDE-F0D7-45BE-B782-8462736CE48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6964-E625-A1C3-6AF6-8614F5545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7A792-2CA0-5A83-37B9-B6C2B52CA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F03B1-9FA5-4FBC-BAB4-10E7D1D66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51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88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26C8AEF-E997-EC4E-B378-A66555430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74" y="365126"/>
            <a:ext cx="10899972" cy="752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B273419-FEDA-F84C-BC87-837BD9C31A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240" y="1496924"/>
            <a:ext cx="10910806" cy="44802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33B3778E-E220-F541-9FDD-8533134B345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2808831" y="6356350"/>
            <a:ext cx="1094576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96F61E21-AD02-2947-9808-957C157512C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19799" y="6356350"/>
            <a:ext cx="3584692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C6DDC57F-1056-0B49-B1CD-711D67B603B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34046" y="6356350"/>
            <a:ext cx="436969" cy="365125"/>
          </a:xfrm>
        </p:spPr>
        <p:txBody>
          <a:bodyPr/>
          <a:lstStyle/>
          <a:p>
            <a:fld id="{F9C64585-196D-47E1-99AE-A85FB4E858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14138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EAB15B-6285-4204-93D0-41FF6CA60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53329" y="6356350"/>
            <a:ext cx="3584692" cy="365125"/>
          </a:xfrm>
        </p:spPr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300648-C5D5-D04F-A6D0-69EE9E8C1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0" y="3572"/>
            <a:ext cx="12179299" cy="6850856"/>
          </a:xfrm>
          <a:prstGeom prst="rect">
            <a:avLst/>
          </a:prstGeom>
        </p:spPr>
      </p:pic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EC7B6595-B15D-8B42-AF3B-A71C19D044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489" b="82419"/>
          <a:stretch/>
        </p:blipFill>
        <p:spPr>
          <a:xfrm>
            <a:off x="265470" y="265551"/>
            <a:ext cx="2884941" cy="936067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38EBD6F-FCCA-A94A-B487-98AD4E4130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3329" y="3877769"/>
            <a:ext cx="7641906" cy="1268510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9398212"/>
      </p:ext>
    </p:extLst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40A16707-C5F9-330E-D641-CA12F743063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06" imgH="306" progId="TCLayout.ActiveDocument.1">
                  <p:embed/>
                </p:oleObj>
              </mc:Choice>
              <mc:Fallback>
                <p:oleObj name="think-cell Slide" r:id="rId9" imgW="306" imgH="306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0A16707-C5F9-330E-D641-CA12F743063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3A958F-E3F4-44EC-AF32-32422937C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74" y="365126"/>
            <a:ext cx="10899972" cy="752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D08C3-A8CE-43CA-9CBA-F3AAB72A7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74" y="1482865"/>
            <a:ext cx="10899972" cy="4694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052ED-F4CF-4884-8BC5-B3E1966B73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808831" y="6356350"/>
            <a:ext cx="10945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CC2FA-AC27-44E2-8C04-97147D7A86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19799" y="6356350"/>
            <a:ext cx="35846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55E3D-A2E0-4145-83AD-1DF2FAE588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34046" y="6356350"/>
            <a:ext cx="4369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F9C64585-196D-47E1-99AE-A85FB4E8582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E1AFC4-D642-804C-B085-47308D1547C7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047C8E1-A06D-844B-970F-8B3374AECD6F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E8357AA-69F7-CB48-8BE7-839A220A12C6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B5ECC0A-20E0-F944-AEE3-1E29A247B36D}"/>
              </a:ext>
            </a:extLst>
          </p:cNvPr>
          <p:cNvSpPr txBox="1"/>
          <p:nvPr userDrawn="1"/>
        </p:nvSpPr>
        <p:spPr>
          <a:xfrm>
            <a:off x="8396746" y="6398275"/>
            <a:ext cx="30242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Confidential and Proprietary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6C2707F-EC85-2B4D-8E3F-207637F3705C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96D03E2-BA44-944D-90DB-0F634927D649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0312346-56C3-E44F-A359-DA02252FE3FC}"/>
              </a:ext>
            </a:extLst>
          </p:cNvPr>
          <p:cNvCxnSpPr>
            <a:cxnSpLocks/>
          </p:cNvCxnSpPr>
          <p:nvPr userDrawn="1"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Graphic 24">
            <a:extLst>
              <a:ext uri="{FF2B5EF4-FFF2-40B4-BE49-F238E27FC236}">
                <a16:creationId xmlns:a16="http://schemas.microsoft.com/office/drawing/2014/main" id="{033D8D52-01E1-2A44-AAE2-4FC0F8CC3A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1280" y="6184740"/>
            <a:ext cx="1994420" cy="524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505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92" r:id="rId2"/>
    <p:sldLayoutId id="2147483793" r:id="rId3"/>
    <p:sldLayoutId id="2147483794" r:id="rId4"/>
    <p:sldLayoutId id="2147483796" r:id="rId5"/>
    <p:sldLayoutId id="2147483797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Backprop and performance · ML Reading Group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in the Kalahari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Session 3 of 3 · Chapters 7–8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Last time: </a:t>
            </a:r>
            <a:r>
              <a:rPr b="0"/>
              <a:t>losses and training (Ch 5–6)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4924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36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2926080" cy="310896"/>
          </a:xfrm>
          <a:prstGeom prst="roundRect">
            <a:avLst>
              <a:gd name="adj" fmla="val 25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LOSSES FROM LIKELIHOOD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507492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404040"/>
                </a:solidFill>
                <a:latin typeface="Calibri"/>
              </a:rPr>
              <a:t>Pick a distribution over y, predict its parameters, minimise the negative log-likelihood.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1417320"/>
            <a:ext cx="534924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008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2926080" cy="310896"/>
          </a:xfrm>
          <a:prstGeom prst="roundRect">
            <a:avLst>
              <a:gd name="adj" fmla="val 25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PREDICTION − TRUTH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11680"/>
            <a:ext cx="507492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404040"/>
                </a:solidFill>
                <a:latin typeface="Calibri"/>
              </a:rPr>
              <a:t>Normal, Bernoulli, categorical, Poisson: with the matching link, ∂ℓ/∂f = prediction − truth.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57600"/>
            <a:ext cx="534924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A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794760"/>
            <a:ext cx="2926080" cy="310896"/>
          </a:xfrm>
          <a:prstGeom prst="roundRect">
            <a:avLst>
              <a:gd name="adj" fmla="val 25000"/>
            </a:avLst>
          </a:prstGeom>
          <a:solidFill>
            <a:srgbClr val="73A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NON-CONVEX FITTING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51960"/>
            <a:ext cx="507492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404040"/>
                </a:solidFill>
                <a:latin typeface="Calibri"/>
              </a:rPr>
              <a:t>Where you start matters. SGD's minibatch noise can hop valleys, with no guarantee.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3657600"/>
            <a:ext cx="534924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EF8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3794760"/>
            <a:ext cx="2926080" cy="310896"/>
          </a:xfrm>
          <a:prstGeom prst="roundRect">
            <a:avLst>
              <a:gd name="adj" fmla="val 25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MOMENTUM AND ADAM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251960"/>
            <a:ext cx="507492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404040"/>
                </a:solidFill>
                <a:latin typeface="Calibri"/>
              </a:rPr>
              <a:t>Smooth the gradient history; normalise step sizes per direction. Adam won the race in 160 steps.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7: </a:t>
            </a:r>
            <a:r>
              <a:rPr b="0"/>
              <a:t>backprop is chain rule + caching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Oval 5"/>
          <p:cNvSpPr/>
          <p:nvPr/>
        </p:nvSpPr>
        <p:spPr>
          <a:xfrm>
            <a:off x="594360" y="1783080"/>
            <a:ext cx="777240" cy="64008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99032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97280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β₀+ω₀x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399032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892807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97479" y="2011680"/>
            <a:ext cx="466345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395728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sin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2697479" y="2331720"/>
            <a:ext cx="466345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191256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95928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94176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β₁+ω₁h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3995928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489704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94376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92624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exp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5294376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788152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92824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91072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β₂+ω₂h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592824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086600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91272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589520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cos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7891272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385048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89720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887968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β₃+ω₃h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9189720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683496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f₃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488168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186416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(f−y)²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10488168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0981944" y="1783080"/>
            <a:ext cx="777240" cy="64008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2514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366AB"/>
                </a:solidFill>
                <a:latin typeface="Calibri"/>
              </a:rPr>
              <a:t>forward pass: store every fₖ, hₖ  </a:t>
            </a:r>
            <a:r>
              <a:rPr sz="1400" b="1" i="0">
                <a:solidFill>
                  <a:srgbClr val="EF8E00"/>
                </a:solidFill>
                <a:latin typeface="Calibri"/>
              </a:rPr>
              <a:t>·  backward pass: multiply by the local derivative and reuse</a:t>
            </a:r>
          </a:p>
        </p:txBody>
      </p:sp>
      <p:pic>
        <p:nvPicPr>
          <p:cNvPr id="40" name="Picture 39" descr="eq_7ccc378143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17520"/>
            <a:ext cx="6900672" cy="33528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48640" y="3703320"/>
            <a:ext cx="110642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85800" y="3840480"/>
            <a:ext cx="3657600" cy="310896"/>
          </a:xfrm>
          <a:prstGeom prst="roundRect">
            <a:avLst>
              <a:gd name="adj" fmla="val 25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VECTOR FORM FOR DEEP RELU NETS</a:t>
            </a:r>
          </a:p>
        </p:txBody>
      </p:sp>
      <p:pic>
        <p:nvPicPr>
          <p:cNvPr id="43" name="Picture 42" descr="eq_7812571bc4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343400"/>
            <a:ext cx="7089648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77240" y="5303520"/>
            <a:ext cx="1060704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95959"/>
                </a:solidFill>
                <a:latin typeface="Calibri"/>
              </a:rPr>
              <a:t>Puzzle 7.2: implement these three lines and you've written loss.backward() for an MLP. The checker compares with torch autograd.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7: </a:t>
            </a:r>
            <a:r>
              <a:rPr b="0"/>
              <a:t>whispers down the burrow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pic>
        <p:nvPicPr>
          <p:cNvPr id="6" name="Picture 5" descr="c01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019" y="1325880"/>
            <a:ext cx="6060681" cy="2377440"/>
          </a:xfrm>
          <a:prstGeom prst="rect">
            <a:avLst/>
          </a:prstGeom>
        </p:spPr>
      </p:pic>
      <p:pic>
        <p:nvPicPr>
          <p:cNvPr id="7" name="Picture 6" descr="eq_c5de617ad0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86200"/>
            <a:ext cx="3791712" cy="920495"/>
          </a:xfrm>
          <a:prstGeom prst="rect">
            <a:avLst/>
          </a:prstGeom>
        </p:spPr>
      </p:pic>
      <p:pic>
        <p:nvPicPr>
          <p:cNvPr id="8" name="Picture 7" descr="eq_903eab4f9e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46320"/>
            <a:ext cx="2313432" cy="49682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417320"/>
            <a:ext cx="384048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09560" y="1554480"/>
            <a:ext cx="3566160" cy="310896"/>
          </a:xfrm>
          <a:prstGeom prst="roundRect">
            <a:avLst>
              <a:gd name="adj" fmla="val 25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WHY ½?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011680"/>
            <a:ext cx="3566160" cy="37490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For z ~ N(0, σ²), a ReLU keeps only the positive half: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366AB"/>
                </a:solidFill>
                <a:latin typeface="Calibri"/>
              </a:rPr>
              <a:t>E[h] = σ/√(2π),  E[h²] = σ²/2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So each layer multiplies the variance by Dₕσ²/2. Anything other than 1 vanishes or explodes exponentially with depth (Puzzles 7.3, 7.4).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Backward pass: same argument with Dₕ′. Compromise: σ² = 4/(Dₕ + Dₕ′).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8: </a:t>
            </a:r>
            <a:r>
              <a:rPr b="0"/>
              <a:t>noise, bias and variance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pic>
        <p:nvPicPr>
          <p:cNvPr id="6" name="Picture 5" descr="eq_a8380ecfd5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368" y="1325880"/>
            <a:ext cx="7034784" cy="457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1965960"/>
            <a:ext cx="1097280" cy="310896"/>
          </a:xfrm>
          <a:prstGeom prst="roundRect">
            <a:avLst>
              <a:gd name="adj" fmla="val 25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VARIANCE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965960"/>
            <a:ext cx="1097280" cy="310896"/>
          </a:xfrm>
          <a:prstGeom prst="roundRect">
            <a:avLst>
              <a:gd name="adj" fmla="val 25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BIAS²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9880" y="1965960"/>
            <a:ext cx="1097280" cy="310896"/>
          </a:xfrm>
          <a:prstGeom prst="roundRect">
            <a:avLst>
              <a:gd name="adj" fmla="val 25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NOISE</a:t>
            </a:r>
          </a:p>
        </p:txBody>
      </p:sp>
      <p:pic>
        <p:nvPicPr>
          <p:cNvPr id="10" name="Picture 9" descr="c040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984" y="2468880"/>
            <a:ext cx="4678591" cy="34747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92240" y="2514600"/>
            <a:ext cx="512064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4846320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Proof idea: add and subtract μ, then f_μ. The cross terms vanish in expectation.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More data → less variance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More capacity → less bias, but more variance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Noise is a hard floor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8759"/>
                </a:solidFill>
                <a:latin typeface="Calibri"/>
              </a:rPr>
              <a:t>Simulation check: 0.0595 + 0.0245 + 0.09 = 0.174 vs measured 0.175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8: </a:t>
            </a:r>
            <a:r>
              <a:rPr b="0"/>
              <a:t>double descent and high-D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pic>
        <p:nvPicPr>
          <p:cNvPr id="6" name="Picture 5" descr="c04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76" y="1325880"/>
            <a:ext cx="5609447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40680"/>
            <a:ext cx="576072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Test error peaks around where the model first (almost) memorises the training set.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8F64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2103120" cy="11430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8F64B7"/>
                </a:solidFill>
                <a:latin typeface="Calibri"/>
              </a:rPr>
              <a:t>10³⁶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463040"/>
            <a:ext cx="2743200" cy="11430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Calibri"/>
              </a:rPr>
              <a:t>bins per training example: 40 dims × 10 bins each, 10⁴ examples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852928"/>
            <a:ext cx="50292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944368"/>
            <a:ext cx="2103120" cy="11430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8F64B7"/>
                </a:solidFill>
                <a:latin typeface="Calibri"/>
              </a:rPr>
              <a:t>3 × 10⁻²¹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944368"/>
            <a:ext cx="2743200" cy="11430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Calibri"/>
              </a:rPr>
              <a:t>fraction of a 40-D cube inside its inscribed sphere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4334256"/>
            <a:ext cx="50292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425696"/>
            <a:ext cx="2103120" cy="11430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8F64B7"/>
                </a:solidFill>
                <a:latin typeface="Calibri"/>
              </a:rPr>
              <a:t>→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425696"/>
            <a:ext cx="2743200" cy="11430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Calibri"/>
              </a:rPr>
              <a:t>ratio of farthest to nearest neighbour as the dimension grows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Hands-on: </a:t>
            </a:r>
            <a:r>
              <a:rPr b="0"/>
              <a:t>10 puzzles, 1 challenge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2677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7360"/>
                <a:gridCol w="8138160"/>
                <a:gridCol w="118872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Puzzles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7 · Gradients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Toy backprop · deep backprop vs autograd ★★★ · ReLU moments · predict the explosion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~25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8 · Performance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Confident mistakes · closed-form fit · bias &amp; variance ★★★ · double descent · curse of dim. · challenge: Call Classifier Cup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~30 min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9 · Capstone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Condensate phase diagram (≥ 88% validation accuracy)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~15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959352"/>
            <a:ext cx="11064240" cy="1417320"/>
          </a:xfrm>
          <a:prstGeom prst="roundRect">
            <a:avLst>
              <a:gd name="adj" fmla="val 4000"/>
            </a:avLst>
          </a:prstGeom>
          <a:solidFill>
            <a:srgbClr val="F2F7FC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032504"/>
            <a:ext cx="10698480" cy="1280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366AB"/>
                </a:solidFill>
                <a:latin typeface="Calibri"/>
              </a:rPr>
              <a:t>Open: 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TBio_UDL_S3_….ipynb in Colab, run Setup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 (and the carry-over cell)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, then work top to bottom.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F8E00"/>
                </a:solidFill>
                <a:latin typeface="Calibri"/>
              </a:rPr>
              <a:t>Short on time? 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Leave stretch puzzles 7.4, 8.5, Challenge 8 for afterwards. Stuck? Run the solution cell so later parts work.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8759"/>
                </a:solidFill>
                <a:latin typeface="Calibri"/>
              </a:rPr>
              <a:t>Next time: 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Chapter 9 · Regularisation. Why do over-parameterised networks generalise at all?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Discussion and next session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Oval 5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463040"/>
            <a:ext cx="64008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6AB"/>
                </a:solidFill>
                <a:latin typeface="Calibri"/>
              </a:rPr>
              <a:t>Bias vs variance on our data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With ~100 measured proteins, where does variance dominate? What would reduce it?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34640"/>
            <a:ext cx="685800" cy="68580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697480"/>
            <a:ext cx="64008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6AB"/>
                </a:solidFill>
                <a:latin typeface="Calibri"/>
              </a:rPr>
              <a:t>Choosing a distribution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Condensate count per cell? Droplet size? Partition coefficient? Pick a distribution and link for each.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69080"/>
            <a:ext cx="685800" cy="68580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931920"/>
            <a:ext cx="64008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6AB"/>
                </a:solidFill>
                <a:latin typeface="Calibri"/>
              </a:rPr>
              <a:t>When is bigger not better?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Double descent says over-parameterised models can generalise. When does that fail for assay data?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474720" cy="3520440"/>
          </a:xfrm>
          <a:prstGeom prst="roundRect">
            <a:avLst>
              <a:gd name="adj" fmla="val 4000"/>
            </a:avLst>
          </a:prstGeom>
          <a:solidFill>
            <a:srgbClr val="EEF6F1"/>
          </a:solidFill>
          <a:ln w="15875">
            <a:solidFill>
              <a:srgbClr val="008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75320" y="1600200"/>
            <a:ext cx="3200400" cy="310896"/>
          </a:xfrm>
          <a:prstGeom prst="roundRect">
            <a:avLst>
              <a:gd name="adj" fmla="val 25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NEXT: CHAPTER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057400"/>
            <a:ext cx="3200400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8759"/>
                </a:solidFill>
                <a:latin typeface="Calibri"/>
              </a:rPr>
              <a:t>Regularisation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Why do over-parameterised networks generalise at all? Weight decay, early stopping, ensembling, dropout, implicit regularisation of SGD.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Notebooks: TBio_UDL_S1–S3 (open in Colab). Book: Prince, Understanding Deep Learning, MIT Press, free at udlbook.github.io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Transition Bio ML Reading Group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Deep Learning in the Kalahari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ransition Bio Final">
  <a:themeElements>
    <a:clrScheme name="Custom 4 2">
      <a:dk1>
        <a:srgbClr val="000000"/>
      </a:dk1>
      <a:lt1>
        <a:srgbClr val="FFFFFF"/>
      </a:lt1>
      <a:dk2>
        <a:srgbClr val="DCDDDC"/>
      </a:dk2>
      <a:lt2>
        <a:srgbClr val="DBEFF9"/>
      </a:lt2>
      <a:accent1>
        <a:srgbClr val="73AE63"/>
      </a:accent1>
      <a:accent2>
        <a:srgbClr val="008759"/>
      </a:accent2>
      <a:accent3>
        <a:srgbClr val="73B0E6"/>
      </a:accent3>
      <a:accent4>
        <a:srgbClr val="1366AB"/>
      </a:accent4>
      <a:accent5>
        <a:srgbClr val="8F64B7"/>
      </a:accent5>
      <a:accent6>
        <a:srgbClr val="CF1D10"/>
      </a:accent6>
      <a:hlink>
        <a:srgbClr val="EF8E00"/>
      </a:hlink>
      <a:folHlink>
        <a:srgbClr val="85DFD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ransition Bio 2022 PPT Template.pptx" id="{CCC3EB2F-16AC-4271-8F0E-1D4DB3A5C5F6}" vid="{0752CD2F-FFCE-4887-B6D3-0A4ABB9B80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86CADD27F57B48A4F7159ECF4052A6" ma:contentTypeVersion="18" ma:contentTypeDescription="Create a new document." ma:contentTypeScope="" ma:versionID="ac0e18359a73571abdd012bcb2e1eb7f">
  <xsd:schema xmlns:xsd="http://www.w3.org/2001/XMLSchema" xmlns:xs="http://www.w3.org/2001/XMLSchema" xmlns:p="http://schemas.microsoft.com/office/2006/metadata/properties" xmlns:ns2="e54c732e-f7a3-459d-9617-7ca0cf58c35a" xmlns:ns3="174f4fd0-24e5-4b60-bf16-897895e1a6d9" targetNamespace="http://schemas.microsoft.com/office/2006/metadata/properties" ma:root="true" ma:fieldsID="e07df394c60355754d8d4dc04cc1767e" ns2:_="" ns3:_="">
    <xsd:import namespace="e54c732e-f7a3-459d-9617-7ca0cf58c35a"/>
    <xsd:import namespace="174f4fd0-24e5-4b60-bf16-897895e1a6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4c732e-f7a3-459d-9617-7ca0cf58c35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c0d9d240-31b3-4007-9ac7-d12e8356bd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4f4fd0-24e5-4b60-bf16-897895e1a6d9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38720ac-8f35-4def-88b5-8f8ca6cc4264}" ma:internalName="TaxCatchAll" ma:showField="CatchAllData" ma:web="174f4fd0-24e5-4b60-bf16-897895e1a6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74f4fd0-24e5-4b60-bf16-897895e1a6d9" xsi:nil="true"/>
    <lcf76f155ced4ddcb4097134ff3c332f xmlns="e54c732e-f7a3-459d-9617-7ca0cf58c35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AF590BB-6809-4180-BDD0-20C3795C87F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61ED3BF-1010-4219-9A09-F8A46E204642}">
  <ds:schemaRefs>
    <ds:schemaRef ds:uri="174f4fd0-24e5-4b60-bf16-897895e1a6d9"/>
    <ds:schemaRef ds:uri="e54c732e-f7a3-459d-9617-7ca0cf58c35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BA800C5-C8D1-4912-A5D3-6C9175CD19EE}">
  <ds:schemaRefs>
    <ds:schemaRef ds:uri="174f4fd0-24e5-4b60-bf16-897895e1a6d9"/>
    <ds:schemaRef ds:uri="e54c732e-f7a3-459d-9617-7ca0cf58c35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</TotalTime>
  <Words>1132</Words>
  <Application>Microsoft Office PowerPoint</Application>
  <PresentationFormat>Widescreen</PresentationFormat>
  <Paragraphs>249</Paragraphs>
  <Slides>17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Aptos</vt:lpstr>
      <vt:lpstr>Arial</vt:lpstr>
      <vt:lpstr>Avenir Book</vt:lpstr>
      <vt:lpstr>Calibri</vt:lpstr>
      <vt:lpstr>MS Shell Dlg 2</vt:lpstr>
      <vt:lpstr>Symbol</vt:lpstr>
      <vt:lpstr>Wingdings</vt:lpstr>
      <vt:lpstr>Transition Bio Final</vt:lpstr>
      <vt:lpstr>think-cell Slide</vt:lpstr>
      <vt:lpstr>Company Town Hall </vt:lpstr>
      <vt:lpstr>Meeting Agenda</vt:lpstr>
      <vt:lpstr>Company Overview</vt:lpstr>
      <vt:lpstr>Panoma Transaction Framework</vt:lpstr>
      <vt:lpstr>Transition Bio &amp; Directional Thoughts</vt:lpstr>
      <vt:lpstr>Town Hall  Science Discussion</vt:lpstr>
      <vt:lpstr>Conferences, presentations and publications</vt:lpstr>
      <vt:lpstr>TETHER validation with ENL: article in preparation</vt:lpstr>
      <vt:lpstr>TransitionBio: Drug discovery for ALL targets</vt:lpstr>
      <vt:lpstr>EWS-FLI1</vt:lpstr>
      <vt:lpstr>EWS::FLI1 – program underway: exploring routes to hit matter </vt:lpstr>
      <vt:lpstr>EWS::FLI1 condensation is (GGAA)n DNA-dependent</vt:lpstr>
      <vt:lpstr>Full 50k library screen underway: EWS-FLI1 + (GGAA)18</vt:lpstr>
      <vt:lpstr>Native-like EWS-FLI1 protein enables structural studies</vt:lpstr>
      <vt:lpstr>Identifying chemical tools with GCI to probe EWS-FLI1</vt:lpstr>
      <vt:lpstr>Six-month timeline: Milestones and payments</vt:lpstr>
      <vt:lpstr>Company Town Hall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Kulander</dc:creator>
  <cp:lastModifiedBy>Stephanie M. Torruella</cp:lastModifiedBy>
  <cp:revision>15</cp:revision>
  <dcterms:created xsi:type="dcterms:W3CDTF">2024-09-13T12:14:52Z</dcterms:created>
  <dcterms:modified xsi:type="dcterms:W3CDTF">2026-10-07T14:35:51Z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0x0101004286CADD27F57B48A4F7159ECF4052A6</vt:lpwstr>
  </property>
  <property fmtid="{D5CDD505-2E9C-101B-9397-08002B2CF9AE}" pid="3" name="MediaServiceImageTags">
    <vt:lpwstr/>
  </property>
</Properties>
</file>