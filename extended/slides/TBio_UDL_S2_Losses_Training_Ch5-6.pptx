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4"/>
  </p:sldMasterIdLst>
  <p:notesMasterIdLst>
    <p:notesMasterId r:id="rId22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2D05780-8FD2-49C1-B717-6DCDD0A3DB8D}">
          <p14:sldIdLst>
            <p14:sldId id="2147482217"/>
            <p14:sldId id="264"/>
            <p14:sldId id="2147482218"/>
            <p14:sldId id="2147482219"/>
            <p14:sldId id="2147482220"/>
            <p14:sldId id="2147482221"/>
            <p14:sldId id="2147482224"/>
            <p14:sldId id="2147482230"/>
            <p14:sldId id="2147482223"/>
            <p14:sldId id="2147482231"/>
            <p14:sldId id="262"/>
            <p14:sldId id="256"/>
            <p14:sldId id="276"/>
            <p14:sldId id="2147482228"/>
            <p14:sldId id="2147482229"/>
            <p14:sldId id="2147482226"/>
            <p14:sldId id="2147482232"/>
          </p14:sldIdLst>
        </p14:section>
        <p14:section name="Untitled Section" id="{A482B9FE-F82E-4C0C-945D-D85BA677D15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091D428-879C-40C4-73D5-B8B6B1DC3D2D}" name="Stephanie M. Torruella" initials="ST" userId="S::storruella@transitionbio.com::c0aa0133-371b-4d6d-8fe9-ae56575c9c5e" providerId="AD"/>
  <p188:author id="{0E406029-269A-AB68-0133-00566E7CCB9A}" name="Shilpi Arora" initials="SA" userId="S::sarora@Transitionbio.com::c55c68db-a3e2-4eca-89f2-966c62e91ca2" providerId="AD"/>
  <p188:author id="{8A55A83A-56C7-0A01-DE17-92951023F0A8}" name="Will Arter" initials="WA" userId="S::warter@Transitionbio.com::dff3fd33-fb71-4f4c-abf8-30e518e27fef" providerId="AD"/>
  <p188:author id="{F0083074-BA88-A507-A9FC-64CC17793B0F}" name="Marius Rebmann" initials="MR" userId="S::mrebmann@Transitionbio.com::6a274d54-82ee-4eff-a43d-1a2fd196fa3d" providerId="AD"/>
  <p188:author id="{715AB47A-F550-355B-C1B6-68C6F1324DC1}" name="Simon Woodcock" initials="SW" userId="S::swoodcock@Transitionbio.com::3d3c77b3-3870-48fa-8e1c-4e9dffd0d5cf" providerId="AD"/>
  <p188:author id="{03779B87-26EC-4450-F385-E33DA60C242D}" name="Alex Howarth" initials="AH" userId="S::ahowarth@Transitionbio.com::0ba22c72-e6b5-477f-b455-a93073b0326d" providerId="AD"/>
  <p188:author id="{C763818E-DDE8-5DA4-B059-90B21959B5D3}" name="Sebastien Degorce" initials="SD" userId="S::sdegorce@Transitionbio.com::c6bdaff8-e30d-476f-a6e8-81eeadf2857a" providerId="AD"/>
  <p188:author id="{F53A58C1-C20C-A9DD-6E1E-B8354C013F54}" name="Marius Rebmann" initials="MR" userId="S::mrebmann@transitionbio.com::6a274d54-82ee-4eff-a43d-1a2fd196fa3d" providerId="AD"/>
  <p188:author id="{17F593C9-917F-05D7-B23C-F1A74D632436}" name="Martin Kulander" initials="MK" userId="S::mkulander@Transitionbio.com::06093cbd-78df-4d98-95d1-1ca19aea9b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13AE"/>
    <a:srgbClr val="DB94F7"/>
    <a:srgbClr val="FFFFFF"/>
    <a:srgbClr val="595959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9F5412-4814-499E-A407-E8906597EB3B}" v="18" dt="2026-10-07T12:14:18.659"/>
    <p1510:client id="{FC60FC2A-E72A-FF0E-4563-BAD76CD4AE8A}" v="9" dt="2026-10-07T13:35:44.1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79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3" Type="http://schemas.openxmlformats.org/officeDocument/2006/relationships/tags" Target="tags/tag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6/11/relationships/changesInfo" Target="changesInfos/changesInfo1.xml"/><Relationship Id="rId29" Type="http://schemas.microsoft.com/office/2015/10/relationships/revisionInfo" Target="revisionInfo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anie M. Torruella" userId="c0aa0133-371b-4d6d-8fe9-ae56575c9c5e" providerId="ADAL" clId="{D4B54141-8F2F-4EE8-9ECD-8B1923541E1F}"/>
    <pc:docChg chg="addSld modSld">
      <pc:chgData name="Stephanie M. Torruella" userId="c0aa0133-371b-4d6d-8fe9-ae56575c9c5e" providerId="ADAL" clId="{D4B54141-8F2F-4EE8-9ECD-8B1923541E1F}" dt="2026-10-07T12:14:58.358" v="60" actId="20577"/>
      <pc:docMkLst>
        <pc:docMk/>
      </pc:docMkLst>
      <pc:sldChg chg="add">
        <pc:chgData name="Stephanie M. Torruella" userId="c0aa0133-371b-4d6d-8fe9-ae56575c9c5e" providerId="ADAL" clId="{D4B54141-8F2F-4EE8-9ECD-8B1923541E1F}" dt="2026-10-07T12:14:10.477" v="7"/>
        <pc:sldMkLst>
          <pc:docMk/>
          <pc:sldMk cId="2649699631" sldId="256"/>
        </pc:sldMkLst>
      </pc:sldChg>
      <pc:sldChg chg="add">
        <pc:chgData name="Stephanie M. Torruella" userId="c0aa0133-371b-4d6d-8fe9-ae56575c9c5e" providerId="ADAL" clId="{D4B54141-8F2F-4EE8-9ECD-8B1923541E1F}" dt="2026-10-07T12:14:17.056" v="14"/>
        <pc:sldMkLst>
          <pc:docMk/>
          <pc:sldMk cId="588774382" sldId="259"/>
        </pc:sldMkLst>
      </pc:sldChg>
      <pc:sldChg chg="add">
        <pc:chgData name="Stephanie M. Torruella" userId="c0aa0133-371b-4d6d-8fe9-ae56575c9c5e" providerId="ADAL" clId="{D4B54141-8F2F-4EE8-9ECD-8B1923541E1F}" dt="2026-10-07T12:14:18.128" v="16"/>
        <pc:sldMkLst>
          <pc:docMk/>
          <pc:sldMk cId="1061694454" sldId="260"/>
        </pc:sldMkLst>
      </pc:sldChg>
      <pc:sldChg chg="add">
        <pc:chgData name="Stephanie M. Torruella" userId="c0aa0133-371b-4d6d-8fe9-ae56575c9c5e" providerId="ADAL" clId="{D4B54141-8F2F-4EE8-9ECD-8B1923541E1F}" dt="2026-10-07T12:14:18.656" v="17"/>
        <pc:sldMkLst>
          <pc:docMk/>
          <pc:sldMk cId="3708365642" sldId="261"/>
        </pc:sldMkLst>
      </pc:sldChg>
      <pc:sldChg chg="add">
        <pc:chgData name="Stephanie M. Torruella" userId="c0aa0133-371b-4d6d-8fe9-ae56575c9c5e" providerId="ADAL" clId="{D4B54141-8F2F-4EE8-9ECD-8B1923541E1F}" dt="2026-10-07T12:14:09.953" v="6"/>
        <pc:sldMkLst>
          <pc:docMk/>
          <pc:sldMk cId="1074570326" sldId="262"/>
        </pc:sldMkLst>
      </pc:sldChg>
      <pc:sldChg chg="add">
        <pc:chgData name="Stephanie M. Torruella" userId="c0aa0133-371b-4d6d-8fe9-ae56575c9c5e" providerId="ADAL" clId="{D4B54141-8F2F-4EE8-9ECD-8B1923541E1F}" dt="2026-10-07T12:14:17.582" v="15"/>
        <pc:sldMkLst>
          <pc:docMk/>
          <pc:sldMk cId="4082321924" sldId="263"/>
        </pc:sldMkLst>
      </pc:sldChg>
      <pc:sldChg chg="modSp mod">
        <pc:chgData name="Stephanie M. Torruella" userId="c0aa0133-371b-4d6d-8fe9-ae56575c9c5e" providerId="ADAL" clId="{D4B54141-8F2F-4EE8-9ECD-8B1923541E1F}" dt="2026-10-07T12:14:47.194" v="41" actId="6549"/>
        <pc:sldMkLst>
          <pc:docMk/>
          <pc:sldMk cId="1572229099" sldId="264"/>
        </pc:sldMkLst>
        <pc:spChg chg="mod">
          <ac:chgData name="Stephanie M. Torruella" userId="c0aa0133-371b-4d6d-8fe9-ae56575c9c5e" providerId="ADAL" clId="{D4B54141-8F2F-4EE8-9ECD-8B1923541E1F}" dt="2026-10-07T12:14:47.194" v="41" actId="6549"/>
          <ac:spMkLst>
            <pc:docMk/>
            <pc:sldMk cId="1572229099" sldId="264"/>
            <ac:spMk id="2" creationId="{4EDBBECE-3610-7DCB-4939-2CE0902936F1}"/>
          </ac:spMkLst>
        </pc:spChg>
      </pc:sldChg>
      <pc:sldChg chg="add">
        <pc:chgData name="Stephanie M. Torruella" userId="c0aa0133-371b-4d6d-8fe9-ae56575c9c5e" providerId="ADAL" clId="{D4B54141-8F2F-4EE8-9ECD-8B1923541E1F}" dt="2026-10-07T12:14:11.005" v="8"/>
        <pc:sldMkLst>
          <pc:docMk/>
          <pc:sldMk cId="2591594260" sldId="276"/>
        </pc:sldMkLst>
      </pc:sldChg>
      <pc:sldChg chg="add">
        <pc:chgData name="Stephanie M. Torruella" userId="c0aa0133-371b-4d6d-8fe9-ae56575c9c5e" providerId="ADAL" clId="{D4B54141-8F2F-4EE8-9ECD-8B1923541E1F}" dt="2026-10-07T12:14:04.171" v="0"/>
        <pc:sldMkLst>
          <pc:docMk/>
          <pc:sldMk cId="1070254613" sldId="2147482221"/>
        </pc:sldMkLst>
      </pc:sldChg>
      <pc:sldChg chg="modSp add mod">
        <pc:chgData name="Stephanie M. Torruella" userId="c0aa0133-371b-4d6d-8fe9-ae56575c9c5e" providerId="ADAL" clId="{D4B54141-8F2F-4EE8-9ECD-8B1923541E1F}" dt="2026-10-07T12:14:58.358" v="60" actId="20577"/>
        <pc:sldMkLst>
          <pc:docMk/>
          <pc:sldMk cId="3646234047" sldId="2147482222"/>
        </pc:sldMkLst>
        <pc:spChg chg="mod">
          <ac:chgData name="Stephanie M. Torruella" userId="c0aa0133-371b-4d6d-8fe9-ae56575c9c5e" providerId="ADAL" clId="{D4B54141-8F2F-4EE8-9ECD-8B1923541E1F}" dt="2026-10-07T12:14:58.358" v="60" actId="20577"/>
          <ac:spMkLst>
            <pc:docMk/>
            <pc:sldMk cId="3646234047" sldId="2147482222"/>
            <ac:spMk id="2" creationId="{712A4549-0F78-B772-1E19-669EB8FA0AEF}"/>
          </ac:spMkLst>
        </pc:spChg>
      </pc:sldChg>
      <pc:sldChg chg="add">
        <pc:chgData name="Stephanie M. Torruella" userId="c0aa0133-371b-4d6d-8fe9-ae56575c9c5e" providerId="ADAL" clId="{D4B54141-8F2F-4EE8-9ECD-8B1923541E1F}" dt="2026-10-07T12:14:08.920" v="4"/>
        <pc:sldMkLst>
          <pc:docMk/>
          <pc:sldMk cId="1619661167" sldId="2147482223"/>
        </pc:sldMkLst>
      </pc:sldChg>
      <pc:sldChg chg="add">
        <pc:chgData name="Stephanie M. Torruella" userId="c0aa0133-371b-4d6d-8fe9-ae56575c9c5e" providerId="ADAL" clId="{D4B54141-8F2F-4EE8-9ECD-8B1923541E1F}" dt="2026-10-07T12:14:07.569" v="2"/>
        <pc:sldMkLst>
          <pc:docMk/>
          <pc:sldMk cId="3658022613" sldId="2147482224"/>
        </pc:sldMkLst>
      </pc:sldChg>
      <pc:sldChg chg="add">
        <pc:chgData name="Stephanie M. Torruella" userId="c0aa0133-371b-4d6d-8fe9-ae56575c9c5e" providerId="ADAL" clId="{D4B54141-8F2F-4EE8-9ECD-8B1923541E1F}" dt="2026-10-07T12:14:15.071" v="11"/>
        <pc:sldMkLst>
          <pc:docMk/>
          <pc:sldMk cId="2537200403" sldId="2147482226"/>
        </pc:sldMkLst>
      </pc:sldChg>
      <pc:sldChg chg="add">
        <pc:chgData name="Stephanie M. Torruella" userId="c0aa0133-371b-4d6d-8fe9-ae56575c9c5e" providerId="ADAL" clId="{D4B54141-8F2F-4EE8-9ECD-8B1923541E1F}" dt="2026-10-07T12:14:15.591" v="12"/>
        <pc:sldMkLst>
          <pc:docMk/>
          <pc:sldMk cId="1177039718" sldId="2147482227"/>
        </pc:sldMkLst>
      </pc:sldChg>
      <pc:sldChg chg="add">
        <pc:chgData name="Stephanie M. Torruella" userId="c0aa0133-371b-4d6d-8fe9-ae56575c9c5e" providerId="ADAL" clId="{D4B54141-8F2F-4EE8-9ECD-8B1923541E1F}" dt="2026-10-07T12:14:11.497" v="9"/>
        <pc:sldMkLst>
          <pc:docMk/>
          <pc:sldMk cId="3247742397" sldId="2147482228"/>
        </pc:sldMkLst>
      </pc:sldChg>
      <pc:sldChg chg="add">
        <pc:chgData name="Stephanie M. Torruella" userId="c0aa0133-371b-4d6d-8fe9-ae56575c9c5e" providerId="ADAL" clId="{D4B54141-8F2F-4EE8-9ECD-8B1923541E1F}" dt="2026-10-07T12:14:11.985" v="10"/>
        <pc:sldMkLst>
          <pc:docMk/>
          <pc:sldMk cId="2093083687" sldId="2147482229"/>
        </pc:sldMkLst>
      </pc:sldChg>
      <pc:sldChg chg="add">
        <pc:chgData name="Stephanie M. Torruella" userId="c0aa0133-371b-4d6d-8fe9-ae56575c9c5e" providerId="ADAL" clId="{D4B54141-8F2F-4EE8-9ECD-8B1923541E1F}" dt="2026-10-07T12:14:08.394" v="3"/>
        <pc:sldMkLst>
          <pc:docMk/>
          <pc:sldMk cId="2458045819" sldId="2147482230"/>
        </pc:sldMkLst>
      </pc:sldChg>
      <pc:sldChg chg="add">
        <pc:chgData name="Stephanie M. Torruella" userId="c0aa0133-371b-4d6d-8fe9-ae56575c9c5e" providerId="ADAL" clId="{D4B54141-8F2F-4EE8-9ECD-8B1923541E1F}" dt="2026-10-07T12:14:09.450" v="5"/>
        <pc:sldMkLst>
          <pc:docMk/>
          <pc:sldMk cId="1467279910" sldId="2147482231"/>
        </pc:sldMkLst>
      </pc:sldChg>
      <pc:sldChg chg="add">
        <pc:chgData name="Stephanie M. Torruella" userId="c0aa0133-371b-4d6d-8fe9-ae56575c9c5e" providerId="ADAL" clId="{D4B54141-8F2F-4EE8-9ECD-8B1923541E1F}" dt="2026-10-07T12:14:16.399" v="13"/>
        <pc:sldMkLst>
          <pc:docMk/>
          <pc:sldMk cId="2086582491" sldId="2147482232"/>
        </pc:sldMkLst>
      </pc:sldChg>
    </pc:docChg>
  </pc:docChgLst>
  <pc:docChgLst>
    <pc:chgData name="Shilpi Arora" userId="S::sarora@transitionbio.com::c55c68db-a3e2-4eca-89f2-966c62e91ca2" providerId="AD" clId="Web-{FC60FC2A-E72A-FF0E-4563-BAD76CD4AE8A}"/>
    <pc:docChg chg="addSld delSld modSld modSection">
      <pc:chgData name="Shilpi Arora" userId="S::sarora@transitionbio.com::c55c68db-a3e2-4eca-89f2-966c62e91ca2" providerId="AD" clId="Web-{FC60FC2A-E72A-FF0E-4563-BAD76CD4AE8A}" dt="2026-10-07T13:35:44.183" v="6" actId="1076"/>
      <pc:docMkLst>
        <pc:docMk/>
      </pc:docMkLst>
      <pc:sldChg chg="addSp delSp modSp add del">
        <pc:chgData name="Shilpi Arora" userId="S::sarora@transitionbio.com::c55c68db-a3e2-4eca-89f2-966c62e91ca2" providerId="AD" clId="Web-{FC60FC2A-E72A-FF0E-4563-BAD76CD4AE8A}" dt="2026-10-07T13:34:40.277" v="2"/>
        <pc:sldMkLst>
          <pc:docMk/>
          <pc:sldMk cId="1070254613" sldId="2147482221"/>
        </pc:sldMkLst>
        <pc:spChg chg="add mod">
          <ac:chgData name="Shilpi Arora" userId="S::sarora@transitionbio.com::c55c68db-a3e2-4eca-89f2-966c62e91ca2" providerId="AD" clId="Web-{FC60FC2A-E72A-FF0E-4563-BAD76CD4AE8A}" dt="2026-10-07T13:34:40.277" v="2"/>
          <ac:spMkLst>
            <pc:docMk/>
            <pc:sldMk cId="1070254613" sldId="2147482221"/>
            <ac:spMk id="3" creationId="{E9E40C4A-8616-D21F-E566-9EF82835A734}"/>
          </ac:spMkLst>
        </pc:spChg>
        <pc:spChg chg="del">
          <ac:chgData name="Shilpi Arora" userId="S::sarora@transitionbio.com::c55c68db-a3e2-4eca-89f2-966c62e91ca2" providerId="AD" clId="Web-{FC60FC2A-E72A-FF0E-4563-BAD76CD4AE8A}" dt="2026-10-07T13:34:40.277" v="2"/>
          <ac:spMkLst>
            <pc:docMk/>
            <pc:sldMk cId="1070254613" sldId="2147482221"/>
            <ac:spMk id="6" creationId="{7B369665-394E-9CAA-7C70-23232919B278}"/>
          </ac:spMkLst>
        </pc:spChg>
      </pc:sldChg>
      <pc:sldChg chg="del">
        <pc:chgData name="Shilpi Arora" userId="S::sarora@transitionbio.com::c55c68db-a3e2-4eca-89f2-966c62e91ca2" providerId="AD" clId="Web-{FC60FC2A-E72A-FF0E-4563-BAD76CD4AE8A}" dt="2026-10-07T13:34:42.402" v="3"/>
        <pc:sldMkLst>
          <pc:docMk/>
          <pc:sldMk cId="3646234047" sldId="2147482222"/>
        </pc:sldMkLst>
      </pc:sldChg>
      <pc:sldChg chg="delSp">
        <pc:chgData name="Shilpi Arora" userId="S::sarora@transitionbio.com::c55c68db-a3e2-4eca-89f2-966c62e91ca2" providerId="AD" clId="Web-{FC60FC2A-E72A-FF0E-4563-BAD76CD4AE8A}" dt="2026-10-07T13:35:19.418" v="4"/>
        <pc:sldMkLst>
          <pc:docMk/>
          <pc:sldMk cId="3658022613" sldId="2147482224"/>
        </pc:sldMkLst>
        <pc:spChg chg="del">
          <ac:chgData name="Shilpi Arora" userId="S::sarora@transitionbio.com::c55c68db-a3e2-4eca-89f2-966c62e91ca2" providerId="AD" clId="Web-{FC60FC2A-E72A-FF0E-4563-BAD76CD4AE8A}" dt="2026-10-07T13:35:19.418" v="4"/>
          <ac:spMkLst>
            <pc:docMk/>
            <pc:sldMk cId="3658022613" sldId="2147482224"/>
            <ac:spMk id="5" creationId="{4197D6B3-4129-A663-B474-4BF3819E98F3}"/>
          </ac:spMkLst>
        </pc:spChg>
      </pc:sldChg>
      <pc:sldChg chg="modSp">
        <pc:chgData name="Shilpi Arora" userId="S::sarora@transitionbio.com::c55c68db-a3e2-4eca-89f2-966c62e91ca2" providerId="AD" clId="Web-{FC60FC2A-E72A-FF0E-4563-BAD76CD4AE8A}" dt="2026-10-07T13:35:36.668" v="5" actId="1076"/>
        <pc:sldMkLst>
          <pc:docMk/>
          <pc:sldMk cId="3247742397" sldId="2147482228"/>
        </pc:sldMkLst>
        <pc:spChg chg="mod">
          <ac:chgData name="Shilpi Arora" userId="S::sarora@transitionbio.com::c55c68db-a3e2-4eca-89f2-966c62e91ca2" providerId="AD" clId="Web-{FC60FC2A-E72A-FF0E-4563-BAD76CD4AE8A}" dt="2026-10-07T13:35:36.668" v="5" actId="1076"/>
          <ac:spMkLst>
            <pc:docMk/>
            <pc:sldMk cId="3247742397" sldId="2147482228"/>
            <ac:spMk id="2" creationId="{AEFC33DC-6908-E40A-53A0-4944CC473E54}"/>
          </ac:spMkLst>
        </pc:spChg>
      </pc:sldChg>
      <pc:sldChg chg="modSp">
        <pc:chgData name="Shilpi Arora" userId="S::sarora@transitionbio.com::c55c68db-a3e2-4eca-89f2-966c62e91ca2" providerId="AD" clId="Web-{FC60FC2A-E72A-FF0E-4563-BAD76CD4AE8A}" dt="2026-10-07T13:35:44.183" v="6" actId="1076"/>
        <pc:sldMkLst>
          <pc:docMk/>
          <pc:sldMk cId="2093083687" sldId="2147482229"/>
        </pc:sldMkLst>
        <pc:spChg chg="mod">
          <ac:chgData name="Shilpi Arora" userId="S::sarora@transitionbio.com::c55c68db-a3e2-4eca-89f2-966c62e91ca2" providerId="AD" clId="Web-{FC60FC2A-E72A-FF0E-4563-BAD76CD4AE8A}" dt="2026-10-07T13:35:44.183" v="6" actId="1076"/>
          <ac:spMkLst>
            <pc:docMk/>
            <pc:sldMk cId="2093083687" sldId="2147482229"/>
            <ac:spMk id="2" creationId="{B095A630-5355-5206-27A3-B53AD584F9EA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0D7FE2-42ED-4D9E-A823-9C479D751818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6CCC5-01D3-4F8D-AF85-B1DD082023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500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 2 of 3: about 20 minutes of slides, then 60-70 minutes of hands-on puzzles in the Colab notebook. All data are synthetic, set in a meerkat field station.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Two-minute recap before today's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Least squares is not arbitrary: it is the negative log-likelihood of a Gaussian. Same recipe gives BCE, cross-entropy, Poisson and von Mises losses, all used in Part 5 of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NLL: the first term doesn't depend on phi, so argmin is least squares. Binary CE gradient sig(f)-y. Softmax gradient softmax(f)-onehot. Puzzle 5.6: averaging angles naively sends the mob east instead of west.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Gabor model eq 6.8. GD from (1,12) and (2,19) reaches the global min; from (-6,20) and (3,15) it gets stuck. SGD occasionally escapes: from (3,15) it reached the global min in about 2 of 20 runs. No guarantees.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Momentum is an exponential moving average of gradients, weight (1-beta)beta^k (Puzzle 6.3). Adam normalises the step size per direction. Challenge 6: race to the burrow on a banana-shaped valley; Adam reaches it in 160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over to the notebook. Suggested pacing per part is in the table and in the notebook's intro.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26C8AEF-E997-EC4E-B378-A66555430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74" y="365126"/>
            <a:ext cx="10899972" cy="752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B273419-FEDA-F84C-BC87-837BD9C31A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3240" y="1496924"/>
            <a:ext cx="10910806" cy="44802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33B3778E-E220-F541-9FDD-8533134B345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2808831" y="6356350"/>
            <a:ext cx="1094576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96F61E21-AD02-2947-9808-957C157512C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19799" y="6356350"/>
            <a:ext cx="35846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C6DDC57F-1056-0B49-B1CD-711D67B603B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34046" y="6356350"/>
            <a:ext cx="436969" cy="365125"/>
          </a:xfrm>
        </p:spPr>
        <p:txBody>
          <a:bodyPr/>
          <a:lstStyle/>
          <a:p>
            <a:fld id="{F9C64585-196D-47E1-99AE-A85FB4E8582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49691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3EA834-EEE0-554F-97F5-6CEA25C75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0" y="3572"/>
            <a:ext cx="12179299" cy="6850856"/>
          </a:xfrm>
          <a:prstGeom prst="rect">
            <a:avLst/>
          </a:prstGeom>
        </p:spPr>
      </p:pic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F0FFB0EF-6FEE-8D46-879F-76CC05116B6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489" b="82419"/>
          <a:stretch/>
        </p:blipFill>
        <p:spPr>
          <a:xfrm>
            <a:off x="6350" y="190118"/>
            <a:ext cx="3715986" cy="1205713"/>
          </a:xfrm>
          <a:prstGeom prst="rect">
            <a:avLst/>
          </a:prstGeom>
        </p:spPr>
      </p:pic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9268937D-4559-7A4C-B02D-68D0028D7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51213" y="5428368"/>
            <a:ext cx="6508431" cy="721196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500">
                <a:solidFill>
                  <a:srgbClr val="84BA7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FontTx/>
              <a:buNone/>
              <a:defRPr sz="1500"/>
            </a:lvl2pPr>
            <a:lvl3pPr marL="914400" indent="0">
              <a:buFontTx/>
              <a:buNone/>
              <a:defRPr sz="1500"/>
            </a:lvl3pPr>
            <a:lvl4pPr marL="1371600" indent="0">
              <a:buFontTx/>
              <a:buNone/>
              <a:defRPr sz="1500"/>
            </a:lvl4pPr>
            <a:lvl5pPr marL="1828800" indent="0">
              <a:buFontTx/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2E8A38-C68B-41D0-9681-886C6662A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213" y="3594227"/>
            <a:ext cx="6508431" cy="1288830"/>
          </a:xfrm>
        </p:spPr>
        <p:txBody>
          <a:bodyPr anchor="b">
            <a:noAutofit/>
          </a:bodyPr>
          <a:lstStyle>
            <a:lvl1pPr algn="l">
              <a:defRPr sz="47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910E484-CA48-D448-8CC1-0680BE90D9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51213" y="4928322"/>
            <a:ext cx="6508431" cy="500045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396680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7367F-79CD-A0E8-E4DF-F3941FB6F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6A513-670A-F060-0657-EB846E987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C19C4-4812-9952-E11F-B4DEDD43B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6FDE-F0D7-45BE-B782-8462736CE482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66964-E625-A1C3-6AF6-8614F5545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7A792-2CA0-5A83-37B9-B6C2B52CA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F03B1-9FA5-4FBC-BAB4-10E7D1D66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5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88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26C8AEF-E997-EC4E-B378-A66555430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74" y="365126"/>
            <a:ext cx="10899972" cy="752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B273419-FEDA-F84C-BC87-837BD9C31A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3240" y="1496924"/>
            <a:ext cx="10910806" cy="44802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33B3778E-E220-F541-9FDD-8533134B345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2808831" y="6356350"/>
            <a:ext cx="1094576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96F61E21-AD02-2947-9808-957C157512C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19799" y="6356350"/>
            <a:ext cx="35846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C6DDC57F-1056-0B49-B1CD-711D67B603B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34046" y="6356350"/>
            <a:ext cx="436969" cy="365125"/>
          </a:xfrm>
        </p:spPr>
        <p:txBody>
          <a:bodyPr/>
          <a:lstStyle/>
          <a:p>
            <a:fld id="{F9C64585-196D-47E1-99AE-A85FB4E8582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41382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AB15B-6285-4204-93D0-41FF6CA60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53329" y="6356350"/>
            <a:ext cx="3584692" cy="365125"/>
          </a:xfrm>
        </p:spPr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300648-C5D5-D04F-A6D0-69EE9E8C1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0" y="3572"/>
            <a:ext cx="12179299" cy="6850856"/>
          </a:xfrm>
          <a:prstGeom prst="rect">
            <a:avLst/>
          </a:prstGeom>
        </p:spPr>
      </p:pic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EC7B6595-B15D-8B42-AF3B-A71C19D044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489" b="82419"/>
          <a:stretch/>
        </p:blipFill>
        <p:spPr>
          <a:xfrm>
            <a:off x="265470" y="265551"/>
            <a:ext cx="2884941" cy="93606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38EBD6F-FCCA-A94A-B487-98AD4E413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329" y="3877769"/>
            <a:ext cx="7641906" cy="1268510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9398212"/>
      </p:ext>
    </p:extLst>
  </p:cSld>
  <p:clrMapOvr>
    <a:masterClrMapping/>
  </p:clrMapOvr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Relationship Id="rId11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40A16707-C5F9-330E-D641-CA12F74306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0A16707-C5F9-330E-D641-CA12F74306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3A958F-E3F4-44EC-AF32-32422937C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74" y="365126"/>
            <a:ext cx="10899972" cy="752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D08C3-A8CE-43CA-9CBA-F3AAB72A7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74" y="1482865"/>
            <a:ext cx="10899972" cy="4694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052ED-F4CF-4884-8BC5-B3E1966B73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808831" y="6356350"/>
            <a:ext cx="10945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CC2FA-AC27-44E2-8C04-97147D7A86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19799" y="6356350"/>
            <a:ext cx="35846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55E3D-A2E0-4145-83AD-1DF2FAE588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4046" y="6356350"/>
            <a:ext cx="4369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9C64585-196D-47E1-99AE-A85FB4E85823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E1AFC4-D642-804C-B085-47308D1547C7}"/>
              </a:ext>
            </a:extLst>
          </p:cNvPr>
          <p:cNvCxnSpPr>
            <a:cxnSpLocks/>
          </p:cNvCxnSpPr>
          <p:nvPr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047C8E1-A06D-844B-970F-8B3374AECD6F}"/>
              </a:ext>
            </a:extLst>
          </p:cNvPr>
          <p:cNvCxnSpPr>
            <a:cxnSpLocks/>
          </p:cNvCxnSpPr>
          <p:nvPr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8357AA-69F7-CB48-8BE7-839A220A12C6}"/>
              </a:ext>
            </a:extLst>
          </p:cNvPr>
          <p:cNvCxnSpPr>
            <a:cxnSpLocks/>
          </p:cNvCxnSpPr>
          <p:nvPr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B5ECC0A-20E0-F944-AEE3-1E29A247B36D}"/>
              </a:ext>
            </a:extLst>
          </p:cNvPr>
          <p:cNvSpPr txBox="1"/>
          <p:nvPr userDrawn="1"/>
        </p:nvSpPr>
        <p:spPr>
          <a:xfrm>
            <a:off x="8396746" y="6398275"/>
            <a:ext cx="30242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>
                <a:solidFill>
                  <a:schemeClr val="tx1">
                    <a:lumMod val="65000"/>
                    <a:lumOff val="35000"/>
                  </a:schemeClr>
                </a:solidFill>
              </a:rPr>
              <a:t>Confidential and Proprietary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6C2707F-EC85-2B4D-8E3F-207637F3705C}"/>
              </a:ext>
            </a:extLst>
          </p:cNvPr>
          <p:cNvCxnSpPr>
            <a:cxnSpLocks/>
          </p:cNvCxnSpPr>
          <p:nvPr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96D03E2-BA44-944D-90DB-0F634927D649}"/>
              </a:ext>
            </a:extLst>
          </p:cNvPr>
          <p:cNvCxnSpPr>
            <a:cxnSpLocks/>
          </p:cNvCxnSpPr>
          <p:nvPr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312346-56C3-E44F-A359-DA02252FE3FC}"/>
              </a:ext>
            </a:extLst>
          </p:cNvPr>
          <p:cNvCxnSpPr>
            <a:cxnSpLocks/>
          </p:cNvCxnSpPr>
          <p:nvPr userDrawn="1"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033D8D52-01E1-2A44-AAE2-4FC0F8CC3A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1280" y="6184740"/>
            <a:ext cx="1994420" cy="52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505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92" r:id="rId2"/>
    <p:sldLayoutId id="2147483793" r:id="rId3"/>
    <p:sldLayoutId id="2147483794" r:id="rId4"/>
    <p:sldLayoutId id="2147483796" r:id="rId5"/>
    <p:sldLayoutId id="2147483797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Losses and training · ML Reading Group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Deep Learning in the Kalahari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Session 2 of 3 · Chapters 5–6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Last time: </a:t>
            </a:r>
            <a:r>
              <a:rPr b="0"/>
              <a:t>models (Ch 1–4)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3492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136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2926080" cy="310896"/>
          </a:xfrm>
          <a:prstGeom prst="roundRect">
            <a:avLst>
              <a:gd name="adj" fmla="val 25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SUPERVISED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074920" cy="1325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A model is a family y = f[x, ϕ]; training = argmin of a loss. Least squares + gradient descent.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1417320"/>
            <a:ext cx="53492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08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2926080" cy="310896"/>
          </a:xfrm>
          <a:prstGeom prst="roundRect">
            <a:avLst>
              <a:gd name="adj" fmla="val 25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SHALLOW NETS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5074920" cy="1325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Linear → ReLU clip → weighted sum = piecewise linear. D units give at most D + 1 regions; universal approximation.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53492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3A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3794760"/>
            <a:ext cx="2926080" cy="310896"/>
          </a:xfrm>
          <a:prstGeom prst="roundRect">
            <a:avLst>
              <a:gd name="adj" fmla="val 25000"/>
            </a:avLst>
          </a:prstGeom>
          <a:solidFill>
            <a:srgbClr val="73A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DEEP NETS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51960"/>
            <a:ext cx="5074920" cy="1325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Each layer folds space: up to (D+1)ᴷ regions. 20 deep units vs 1,023 shallow for the dune sea.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9" y="3657600"/>
            <a:ext cx="53492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F8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3794760"/>
            <a:ext cx="2926080" cy="310896"/>
          </a:xfrm>
          <a:prstGeom prst="roundRect">
            <a:avLst>
              <a:gd name="adj" fmla="val 25000"/>
            </a:avLst>
          </a:prstGeom>
          <a:solidFill>
            <a:srgbClr val="EF8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OPEN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251960"/>
            <a:ext cx="5074920" cy="1325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Why least squares? What about classes, counts, angles? How do we train non-convex models? → today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Chapter 5: </a:t>
            </a:r>
            <a:r>
              <a:rPr b="0"/>
              <a:t>the recipe for any loss function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sp>
        <p:nvSpPr>
          <p:cNvPr id="6" name="Oval 5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08760"/>
            <a:ext cx="42062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Choose a distribution Pr(y | θ) over the output domain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212848"/>
            <a:ext cx="548640" cy="548640"/>
          </a:xfrm>
          <a:prstGeom prst="ellipse">
            <a:avLst/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258568"/>
            <a:ext cx="42062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Let the network predict its parameters: θ = f[x, ϕ]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62656"/>
            <a:ext cx="548640" cy="548640"/>
          </a:xfrm>
          <a:prstGeom prst="ellipse">
            <a:avLst/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08376"/>
            <a:ext cx="42062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Train by minimising the negative log-likelihood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712464"/>
            <a:ext cx="548640" cy="548640"/>
          </a:xfrm>
          <a:prstGeom prst="ellipse">
            <a:avLst/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758184"/>
            <a:ext cx="42062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Inference: the full distribution, or its maximum</a:t>
            </a:r>
          </a:p>
        </p:txBody>
      </p:sp>
      <p:pic>
        <p:nvPicPr>
          <p:cNvPr id="14" name="Picture 13" descr="eq_1ed6e42b5e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17720"/>
            <a:ext cx="4657344" cy="679704"/>
          </a:xfrm>
          <a:prstGeom prst="rect">
            <a:avLst/>
          </a:prstGeom>
        </p:spPr>
      </p:pic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760720" y="1417320"/>
          <a:ext cx="5852160" cy="301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0120"/>
                <a:gridCol w="1188720"/>
                <a:gridCol w="1097280"/>
                <a:gridCol w="1234440"/>
                <a:gridCol w="137160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distribution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activation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meerkat example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y ∈ ℝ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normal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least squares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pup growth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y ∈ {0,1}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Bernoulli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sigmoid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binary CE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sentinel duty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y ∈ {1..K}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categorical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softmax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cross-entropy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alarm calls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y ∈ ℕ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Poisson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exp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Poisson NLL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scorpions / hour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y ∈ (−π, π]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von Mises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−κ cos(y − μ)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burrow heading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760720" y="4572000"/>
            <a:ext cx="58521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8759"/>
                </a:solidFill>
                <a:latin typeface="Calibri"/>
              </a:rPr>
              <a:t>Same punchline every time: </a:t>
            </a:r>
            <a:r>
              <a:rPr sz="1600" b="0" i="0">
                <a:solidFill>
                  <a:srgbClr val="404040"/>
                </a:solidFill>
                <a:latin typeface="Calibri"/>
              </a:rPr>
              <a:t>with the matching link function, ∂ℓ/∂f = prediction − truth.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Chapter 5: </a:t>
            </a:r>
            <a:r>
              <a:rPr b="0"/>
              <a:t>three losses, one recipe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108960" cy="310896"/>
          </a:xfrm>
          <a:prstGeom prst="roundRect">
            <a:avLst>
              <a:gd name="adj" fmla="val 25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NORMAL → LEAST SQUARES</a:t>
            </a:r>
          </a:p>
        </p:txBody>
      </p:sp>
      <p:pic>
        <p:nvPicPr>
          <p:cNvPr id="7" name="Picture 6" descr="eq_73a8cc845a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3727704" cy="670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2636520"/>
            <a:ext cx="3108960" cy="310896"/>
          </a:xfrm>
          <a:prstGeom prst="roundRect">
            <a:avLst>
              <a:gd name="adj" fmla="val 25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BERNOULLI → BINARY CE</a:t>
            </a:r>
          </a:p>
        </p:txBody>
      </p:sp>
      <p:pic>
        <p:nvPicPr>
          <p:cNvPr id="9" name="Picture 8" descr="eq_84300a8297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48000"/>
            <a:ext cx="5102352" cy="338328"/>
          </a:xfrm>
          <a:prstGeom prst="rect">
            <a:avLst/>
          </a:prstGeom>
        </p:spPr>
      </p:pic>
      <p:pic>
        <p:nvPicPr>
          <p:cNvPr id="10" name="Picture 9" descr="eq_074f3d6587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477768"/>
            <a:ext cx="2148840" cy="33832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3998976"/>
            <a:ext cx="3108960" cy="310896"/>
          </a:xfrm>
          <a:prstGeom prst="roundRect">
            <a:avLst>
              <a:gd name="adj" fmla="val 25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CATEGORICAL → CROSS-ENTROPY</a:t>
            </a:r>
          </a:p>
        </p:txBody>
      </p:sp>
      <p:pic>
        <p:nvPicPr>
          <p:cNvPr id="12" name="Picture 11" descr="eq_aaf89e7f309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410456"/>
            <a:ext cx="5120640" cy="504606"/>
          </a:xfrm>
          <a:prstGeom prst="rect">
            <a:avLst/>
          </a:prstGeom>
        </p:spPr>
      </p:pic>
      <p:pic>
        <p:nvPicPr>
          <p:cNvPr id="13" name="Picture 12" descr="c022_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1705386"/>
            <a:ext cx="5669280" cy="234994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943600" y="4572000"/>
            <a:ext cx="566928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F8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4645152"/>
            <a:ext cx="539496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EF8E00"/>
                </a:solidFill>
                <a:latin typeface="Calibri"/>
              </a:rPr>
              <a:t>Puzzle 5.6: which way is the burrow?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Calibri"/>
              </a:rPr>
              <a:t>Headings cluster around ±180°. The naive mean says 7.6° (due east). The von Mises MLE atan2(Σ sin yᵢ, Σ cos yᵢ) gives −179.6°.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Chapter 6: </a:t>
            </a:r>
            <a:r>
              <a:rPr b="0"/>
              <a:t>where you start matters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pic>
        <p:nvPicPr>
          <p:cNvPr id="6" name="Picture 5" descr="eq_4d09b72d64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028" y="1280160"/>
            <a:ext cx="6379464" cy="542544"/>
          </a:xfrm>
          <a:prstGeom prst="rect">
            <a:avLst/>
          </a:prstGeom>
        </p:spPr>
      </p:pic>
      <p:pic>
        <p:nvPicPr>
          <p:cNvPr id="7" name="Picture 6" descr="c038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79024"/>
            <a:ext cx="7498079" cy="315151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2057400"/>
            <a:ext cx="3337560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3B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0" y="2194560"/>
            <a:ext cx="3063240" cy="310896"/>
          </a:xfrm>
          <a:prstGeom prst="roundRect">
            <a:avLst>
              <a:gd name="adj" fmla="val 25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SGD (EQ 6.10)</a:t>
            </a:r>
          </a:p>
        </p:txBody>
      </p:sp>
      <p:pic>
        <p:nvPicPr>
          <p:cNvPr id="10" name="Picture 9" descr="eq_b1acf9daec5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651760"/>
            <a:ext cx="2240280" cy="612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80" y="3429000"/>
            <a:ext cx="3108960" cy="2377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01168" indent="-182880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404040"/>
                </a:solidFill>
                <a:latin typeface="Calibri"/>
              </a:rPr>
              <a:t>Random minibatches add noise that can hop valleys, but there's no guarantee</a:t>
            </a:r>
          </a:p>
          <a:p>
            <a:pPr algn="l" marL="201168" indent="-182880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404040"/>
                </a:solidFill>
                <a:latin typeface="Calibri"/>
              </a:rPr>
              <a:t>1 epoch = one pass over the data</a:t>
            </a:r>
          </a:p>
          <a:p>
            <a:pPr algn="l" marL="201168" indent="-182880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404040"/>
                </a:solidFill>
                <a:latin typeface="Calibri"/>
              </a:rPr>
              <a:t>Puzzle 6.2: a 10⁶-parameter Hessian has 10¹² entries (4 TB)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Chapter 6: </a:t>
            </a:r>
            <a:r>
              <a:rPr b="0"/>
              <a:t>momentum and Adam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377440" cy="310896"/>
          </a:xfrm>
          <a:prstGeom prst="roundRect">
            <a:avLst>
              <a:gd name="adj" fmla="val 25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MOMENTUM (6.11)</a:t>
            </a:r>
          </a:p>
        </p:txBody>
      </p:sp>
      <p:pic>
        <p:nvPicPr>
          <p:cNvPr id="7" name="Picture 6" descr="eq_67e540b79a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5212080" cy="31091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2322595"/>
            <a:ext cx="2377440" cy="310896"/>
          </a:xfrm>
          <a:prstGeom prst="roundRect">
            <a:avLst>
              <a:gd name="adj" fmla="val 25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ADAM (6.15–6.17)</a:t>
            </a:r>
          </a:p>
        </p:txBody>
      </p:sp>
      <p:pic>
        <p:nvPicPr>
          <p:cNvPr id="9" name="Picture 8" descr="eq_83f140f61d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734075"/>
            <a:ext cx="2776728" cy="384048"/>
          </a:xfrm>
          <a:prstGeom prst="rect">
            <a:avLst/>
          </a:prstGeom>
        </p:spPr>
      </p:pic>
      <p:pic>
        <p:nvPicPr>
          <p:cNvPr id="10" name="Picture 9" descr="eq_a62ee5ad3aa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255283"/>
            <a:ext cx="2852928" cy="490727"/>
          </a:xfrm>
          <a:prstGeom prst="rect">
            <a:avLst/>
          </a:prstGeom>
        </p:spPr>
      </p:pic>
      <p:pic>
        <p:nvPicPr>
          <p:cNvPr id="11" name="Picture 10" descr="eq_a0e52410e2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883171"/>
            <a:ext cx="2276856" cy="53035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48640" y="4642123"/>
            <a:ext cx="5212080" cy="12557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F8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715275"/>
            <a:ext cx="4937760" cy="11185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EF8E00"/>
                </a:solidFill>
                <a:latin typeface="Calibri"/>
              </a:rPr>
              <a:t>Challenge 6: race to the burrow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Calibri"/>
              </a:rPr>
              <a:t>L(a, b) = (1 − a)² + 20(b − a²)². Fewest steps wins: bronze &lt; 2,000, silver &lt; 600, gold &lt; 200.</a:t>
            </a:r>
          </a:p>
        </p:txBody>
      </p:sp>
      <p:pic>
        <p:nvPicPr>
          <p:cNvPr id="14" name="Picture 13" descr="c051_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2550023"/>
            <a:ext cx="5669280" cy="21237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Hands-on: </a:t>
            </a:r>
            <a:r>
              <a:rPr b="0"/>
              <a:t>10 puzzles, 1 challenge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17007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7360"/>
                <a:gridCol w="8138160"/>
                <a:gridCol w="118872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Puzzles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5 · Loss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Normal NLL &amp; σ² · heteroscedastic (PyTorch) · BCE gradient · stable softmax · Poisson scorpions · von Mises burrow ★★★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~35 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6 · Fitting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Gabor gradient · epochs &amp; Hessians · momentum weights · momentum / Nesterov / Adam · challenge: race to the burrow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~35 min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3392424"/>
            <a:ext cx="11064240" cy="141732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 w="15875">
            <a:solidFill>
              <a:srgbClr val="73B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465576"/>
            <a:ext cx="10698480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366AB"/>
                </a:solidFill>
                <a:latin typeface="Calibri"/>
              </a:rPr>
              <a:t>Open: 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TBio_UDL_S2_….ipynb in Colab, run Setup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 (and the carry-over cell)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, then work top to bottom.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EF8E00"/>
                </a:solidFill>
                <a:latin typeface="Calibri"/>
              </a:rPr>
              <a:t>Short on time? 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Leave stretch puzzles 5.2, 5.6, 6.3 for afterwards. Stuck? Run the solution cell so later parts work.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08759"/>
                </a:solidFill>
                <a:latin typeface="Calibri"/>
              </a:rPr>
              <a:t>Next time: 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Session 3 · Backprop and performance (Ch 7–8). Optional reading: book chapters 7–8.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Transition Bio ML Reading Group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Deep Learning in the Kalahari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ransition Bio Final">
  <a:themeElements>
    <a:clrScheme name="Custom 4 2">
      <a:dk1>
        <a:srgbClr val="000000"/>
      </a:dk1>
      <a:lt1>
        <a:srgbClr val="FFFFFF"/>
      </a:lt1>
      <a:dk2>
        <a:srgbClr val="DCDDDC"/>
      </a:dk2>
      <a:lt2>
        <a:srgbClr val="DBEFF9"/>
      </a:lt2>
      <a:accent1>
        <a:srgbClr val="73AE63"/>
      </a:accent1>
      <a:accent2>
        <a:srgbClr val="008759"/>
      </a:accent2>
      <a:accent3>
        <a:srgbClr val="73B0E6"/>
      </a:accent3>
      <a:accent4>
        <a:srgbClr val="1366AB"/>
      </a:accent4>
      <a:accent5>
        <a:srgbClr val="8F64B7"/>
      </a:accent5>
      <a:accent6>
        <a:srgbClr val="CF1D10"/>
      </a:accent6>
      <a:hlink>
        <a:srgbClr val="EF8E00"/>
      </a:hlink>
      <a:folHlink>
        <a:srgbClr val="85DFD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ansition Bio 2022 PPT Template.pptx" id="{CCC3EB2F-16AC-4271-8F0E-1D4DB3A5C5F6}" vid="{0752CD2F-FFCE-4887-B6D3-0A4ABB9B804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86CADD27F57B48A4F7159ECF4052A6" ma:contentTypeVersion="18" ma:contentTypeDescription="Create a new document." ma:contentTypeScope="" ma:versionID="ac0e18359a73571abdd012bcb2e1eb7f">
  <xsd:schema xmlns:xsd="http://www.w3.org/2001/XMLSchema" xmlns:xs="http://www.w3.org/2001/XMLSchema" xmlns:p="http://schemas.microsoft.com/office/2006/metadata/properties" xmlns:ns2="e54c732e-f7a3-459d-9617-7ca0cf58c35a" xmlns:ns3="174f4fd0-24e5-4b60-bf16-897895e1a6d9" targetNamespace="http://schemas.microsoft.com/office/2006/metadata/properties" ma:root="true" ma:fieldsID="e07df394c60355754d8d4dc04cc1767e" ns2:_="" ns3:_="">
    <xsd:import namespace="e54c732e-f7a3-459d-9617-7ca0cf58c35a"/>
    <xsd:import namespace="174f4fd0-24e5-4b60-bf16-897895e1a6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4c732e-f7a3-459d-9617-7ca0cf58c3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c0d9d240-31b3-4007-9ac7-d12e8356bd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4f4fd0-24e5-4b60-bf16-897895e1a6d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38720ac-8f35-4def-88b5-8f8ca6cc4264}" ma:internalName="TaxCatchAll" ma:showField="CatchAllData" ma:web="174f4fd0-24e5-4b60-bf16-897895e1a6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4f4fd0-24e5-4b60-bf16-897895e1a6d9" xsi:nil="true"/>
    <lcf76f155ced4ddcb4097134ff3c332f xmlns="e54c732e-f7a3-459d-9617-7ca0cf58c35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AF590BB-6809-4180-BDD0-20C3795C87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1ED3BF-1010-4219-9A09-F8A46E204642}">
  <ds:schemaRefs>
    <ds:schemaRef ds:uri="174f4fd0-24e5-4b60-bf16-897895e1a6d9"/>
    <ds:schemaRef ds:uri="e54c732e-f7a3-459d-9617-7ca0cf58c35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BA800C5-C8D1-4912-A5D3-6C9175CD19EE}">
  <ds:schemaRefs>
    <ds:schemaRef ds:uri="174f4fd0-24e5-4b60-bf16-897895e1a6d9"/>
    <ds:schemaRef ds:uri="e54c732e-f7a3-459d-9617-7ca0cf58c35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1132</Words>
  <Application>Microsoft Office PowerPoint</Application>
  <PresentationFormat>Widescreen</PresentationFormat>
  <Paragraphs>249</Paragraphs>
  <Slides>17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Arial</vt:lpstr>
      <vt:lpstr>Avenir Book</vt:lpstr>
      <vt:lpstr>Calibri</vt:lpstr>
      <vt:lpstr>MS Shell Dlg 2</vt:lpstr>
      <vt:lpstr>Symbol</vt:lpstr>
      <vt:lpstr>Wingdings</vt:lpstr>
      <vt:lpstr>Transition Bio Final</vt:lpstr>
      <vt:lpstr>think-cell Slide</vt:lpstr>
      <vt:lpstr>Company Town Hall </vt:lpstr>
      <vt:lpstr>Meeting Agenda</vt:lpstr>
      <vt:lpstr>Company Overview</vt:lpstr>
      <vt:lpstr>Panoma Transaction Framework</vt:lpstr>
      <vt:lpstr>Transition Bio &amp; Directional Thoughts</vt:lpstr>
      <vt:lpstr>Town Hall  Science Discussion</vt:lpstr>
      <vt:lpstr>Conferences, presentations and publications</vt:lpstr>
      <vt:lpstr>TETHER validation with ENL: article in preparation</vt:lpstr>
      <vt:lpstr>TransitionBio: Drug discovery for ALL targets</vt:lpstr>
      <vt:lpstr>EWS-FLI1</vt:lpstr>
      <vt:lpstr>EWS::FLI1 – program underway: exploring routes to hit matter </vt:lpstr>
      <vt:lpstr>EWS::FLI1 condensation is (GGAA)n DNA-dependent</vt:lpstr>
      <vt:lpstr>Full 50k library screen underway: EWS-FLI1 + (GGAA)18</vt:lpstr>
      <vt:lpstr>Native-like EWS-FLI1 protein enables structural studies</vt:lpstr>
      <vt:lpstr>Identifying chemical tools with GCI to probe EWS-FLI1</vt:lpstr>
      <vt:lpstr>Six-month timeline: Milestones and payments</vt:lpstr>
      <vt:lpstr>Company Town Hall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Kulander</dc:creator>
  <cp:lastModifiedBy>Stephanie M. Torruella</cp:lastModifiedBy>
  <cp:revision>15</cp:revision>
  <dcterms:created xsi:type="dcterms:W3CDTF">2024-09-13T12:14:52Z</dcterms:created>
  <dcterms:modified xsi:type="dcterms:W3CDTF">2026-10-07T14:35:51Z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0x0101004286CADD27F57B48A4F7159ECF4052A6</vt:lpwstr>
  </property>
  <property fmtid="{D5CDD505-2E9C-101B-9397-08002B2CF9AE}" pid="3" name="MediaServiceImageTags">
    <vt:lpwstr/>
  </property>
</Properties>
</file>